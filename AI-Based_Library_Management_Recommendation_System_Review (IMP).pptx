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262" r:id="rId3"/>
    <p:sldId id="707" r:id="rId4"/>
    <p:sldId id="257" r:id="rId5"/>
    <p:sldId id="903" r:id="rId6"/>
    <p:sldId id="902" r:id="rId7"/>
    <p:sldId id="904" r:id="rId8"/>
    <p:sldId id="258" r:id="rId9"/>
    <p:sldId id="905" r:id="rId10"/>
    <p:sldId id="906" r:id="rId11"/>
    <p:sldId id="907" r:id="rId12"/>
    <p:sldId id="90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27027" autoAdjust="0"/>
  </p:normalViewPr>
  <p:slideViewPr>
    <p:cSldViewPr snapToGrid="0">
      <p:cViewPr varScale="1">
        <p:scale>
          <a:sx n="18" d="100"/>
          <a:sy n="18" d="100"/>
        </p:scale>
        <p:origin x="2536"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traditional library systems</a:t>
            </a:r>
            <a:r>
              <a:rPr lang="en-US" dirty="0"/>
              <a:t>, there is a lot of manual work. Managing books, borrowing, returns, and due dates can take more time. Students may also find it difficult to search for available books and find books that match their interests. Librarians also have to manage book and student records separately.</a:t>
            </a:r>
          </a:p>
          <a:p>
            <a:endParaRPr lang="en-US" dirty="0"/>
          </a:p>
          <a:p>
            <a:endParaRPr lang="en-US" dirty="0"/>
          </a:p>
          <a:p>
            <a:r>
              <a:rPr lang="en-US" dirty="0"/>
              <a:t>Our proposed system provides a single platform to manage all these activities easily. Students can search for books, check their availability, and receive reminders for return dates. Librarians can manage books, students, and transactions in one place.</a:t>
            </a:r>
          </a:p>
          <a:p>
            <a:endParaRPr lang="en-US" dirty="0"/>
          </a:p>
          <a:p>
            <a:endParaRPr lang="en-US" dirty="0"/>
          </a:p>
          <a:p>
            <a:endParaRPr lang="en-US" dirty="0"/>
          </a:p>
          <a:p>
            <a:r>
              <a:rPr lang="en-US" dirty="0"/>
              <a:t>The main benefit is that the system </a:t>
            </a:r>
            <a:r>
              <a:rPr lang="en-US" b="0" dirty="0"/>
              <a:t>saves time, reduces manual work, makes book searching easier, and provides personalized book suggestions based on students’ interests and reading history</a:t>
            </a:r>
            <a:r>
              <a:rPr lang="en-US" b="1" dirty="0"/>
              <a:t>.</a:t>
            </a:r>
            <a:endParaRPr lang="en-US" dirty="0"/>
          </a:p>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3</a:t>
            </a:fld>
            <a:endParaRPr lang="en-US"/>
          </a:p>
        </p:txBody>
      </p:sp>
    </p:spTree>
    <p:extLst>
      <p:ext uri="{BB962C8B-B14F-4D97-AF65-F5344CB8AC3E}">
        <p14:creationId xmlns:p14="http://schemas.microsoft.com/office/powerpoint/2010/main" val="3868312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goal of our project is to make the library system </a:t>
            </a:r>
            <a:r>
              <a:rPr lang="en-US" b="0" dirty="0"/>
              <a:t>faster, easier, and more useful for both students and librarians</a:t>
            </a:r>
            <a:r>
              <a:rPr lang="en-US" dirty="0"/>
              <a:t>.</a:t>
            </a:r>
          </a:p>
          <a:p>
            <a:endParaRPr lang="en-US" dirty="0"/>
          </a:p>
          <a:p>
            <a:endParaRPr lang="en-US" dirty="0"/>
          </a:p>
          <a:p>
            <a:r>
              <a:rPr lang="en-US" dirty="0"/>
              <a:t>First, we aim to create a single platform where books, student details, borrowing, returns, and due dates can be managed easily. This reduces manual work and keeps all information in one place.</a:t>
            </a:r>
          </a:p>
          <a:p>
            <a:endParaRPr lang="en-US" dirty="0"/>
          </a:p>
          <a:p>
            <a:endParaRPr lang="en-US" dirty="0"/>
          </a:p>
          <a:p>
            <a:r>
              <a:rPr lang="en-US" dirty="0"/>
              <a:t>Second, we want to improve the way students search for books. They can quickly find a book and check its availability without wasting time.</a:t>
            </a:r>
          </a:p>
          <a:p>
            <a:endParaRPr lang="en-US" dirty="0"/>
          </a:p>
          <a:p>
            <a:endParaRPr lang="en-US" dirty="0"/>
          </a:p>
          <a:p>
            <a:r>
              <a:rPr lang="en-US" dirty="0"/>
              <a:t>Third, students can view their borrowing history and receive reminders about return dates. This helps them keep track of their borrowed books.</a:t>
            </a:r>
          </a:p>
          <a:p>
            <a:endParaRPr lang="en-US" dirty="0"/>
          </a:p>
          <a:p>
            <a:r>
              <a:rPr lang="en-US" dirty="0"/>
              <a:t>Fourth, the system makes the librarian’s work easier by providing one place to manage books, students, and transactions.</a:t>
            </a:r>
          </a:p>
          <a:p>
            <a:endParaRPr lang="en-US" dirty="0"/>
          </a:p>
          <a:p>
            <a:r>
              <a:rPr lang="en-US" dirty="0"/>
              <a:t>Fifth, our important objective is to provide </a:t>
            </a:r>
            <a:r>
              <a:rPr lang="en-US" b="0" dirty="0"/>
              <a:t>personalized book recommendations</a:t>
            </a:r>
            <a:r>
              <a:rPr lang="en-US" dirty="0"/>
              <a:t>. The system looks at a student’s reading history and interests and suggests books that may be useful or interesting to them.</a:t>
            </a:r>
          </a:p>
          <a:p>
            <a:endParaRPr lang="en-US" dirty="0"/>
          </a:p>
          <a:p>
            <a:r>
              <a:rPr lang="en-US" dirty="0"/>
              <a:t>Finally, the system can use borrowing information to understand </a:t>
            </a:r>
            <a:r>
              <a:rPr lang="en-US" b="0" dirty="0"/>
              <a:t>which books are popular and in demand</a:t>
            </a:r>
            <a:r>
              <a:rPr lang="en-US" dirty="0"/>
              <a:t>. This can help librarians make better decisions when adding new books to the library.</a:t>
            </a:r>
          </a:p>
          <a:p>
            <a:endParaRPr lang="en-US" dirty="0"/>
          </a:p>
          <a:p>
            <a:r>
              <a:rPr lang="en-US" dirty="0"/>
              <a:t>Overall, our objective is to create a </a:t>
            </a:r>
            <a:r>
              <a:rPr lang="en-US" b="0" dirty="0"/>
              <a:t>smart and user-friendly library system that saves time, improves book discovery, and provides better services to students and librarians</a:t>
            </a:r>
          </a:p>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4170582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1" dirty="0"/>
              <a:t>Requirements Analysis &amp; Data Collection:</a:t>
            </a:r>
            <a:r>
              <a:rPr lang="en-US" sz="900" dirty="0"/>
              <a:t> Understand the library needs and collect book, student, and borrowing data</a:t>
            </a:r>
            <a:r>
              <a:rPr lang="en-US" dirty="0"/>
              <a:t>. </a:t>
            </a:r>
          </a:p>
          <a:p>
            <a:endParaRPr lang="en-US" b="1" dirty="0"/>
          </a:p>
          <a:p>
            <a:r>
              <a:rPr lang="en-US" b="1" dirty="0"/>
              <a:t>System Design:</a:t>
            </a:r>
            <a:r>
              <a:rPr lang="en-US" dirty="0"/>
              <a:t> Design the database and plan the main parts of the library system. </a:t>
            </a:r>
          </a:p>
          <a:p>
            <a:endParaRPr lang="en-US" b="1" dirty="0"/>
          </a:p>
          <a:p>
            <a:endParaRPr lang="en-US" b="1" dirty="0"/>
          </a:p>
          <a:p>
            <a:r>
              <a:rPr lang="en-US" b="1" dirty="0"/>
              <a:t>Development:</a:t>
            </a:r>
            <a:r>
              <a:rPr lang="en-US" dirty="0"/>
              <a:t> Build the website and backend for searching, borrowing, returning, and notifications. </a:t>
            </a:r>
          </a:p>
          <a:p>
            <a:endParaRPr lang="en-US" b="1" dirty="0"/>
          </a:p>
          <a:p>
            <a:r>
              <a:rPr lang="en-US" b="1" dirty="0"/>
              <a:t>Data Preprocessing:</a:t>
            </a:r>
            <a:r>
              <a:rPr lang="en-US" dirty="0"/>
              <a:t> Clean and organize the collected data so it can be used by the AI model. </a:t>
            </a:r>
          </a:p>
          <a:p>
            <a:endParaRPr lang="en-US" b="1" dirty="0"/>
          </a:p>
          <a:p>
            <a:endParaRPr lang="en-US" b="1" dirty="0"/>
          </a:p>
          <a:p>
            <a:r>
              <a:rPr lang="en-US" b="1" dirty="0"/>
              <a:t>Recommendation Model Building:</a:t>
            </a:r>
            <a:r>
              <a:rPr lang="en-US" dirty="0"/>
              <a:t> Use AI techniques to study reading patterns and suggest suitable books. </a:t>
            </a:r>
          </a:p>
          <a:p>
            <a:endParaRPr lang="en-US" b="1" dirty="0"/>
          </a:p>
          <a:p>
            <a:r>
              <a:rPr lang="en-US" b="1" dirty="0"/>
              <a:t>Testing &amp; Validation:</a:t>
            </a:r>
            <a:r>
              <a:rPr lang="en-US" dirty="0"/>
              <a:t> Test the system and check whether all features and book recommendations work correctly. </a:t>
            </a:r>
          </a:p>
          <a:p>
            <a:endParaRPr lang="en-US" b="1" dirty="0"/>
          </a:p>
          <a:p>
            <a:endParaRPr lang="en-US" b="1" dirty="0"/>
          </a:p>
          <a:p>
            <a:r>
              <a:rPr lang="en-US" b="1" dirty="0"/>
              <a:t>Deployment &amp; Feedback Integration:</a:t>
            </a:r>
            <a:r>
              <a:rPr lang="en-US" dirty="0"/>
              <a:t> Launch the system and improve it using user feedback and usage data.</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6</a:t>
            </a:fld>
            <a:endParaRPr lang="en-US"/>
          </a:p>
        </p:txBody>
      </p:sp>
    </p:spTree>
    <p:extLst>
      <p:ext uri="{BB962C8B-B14F-4D97-AF65-F5344CB8AC3E}">
        <p14:creationId xmlns:p14="http://schemas.microsoft.com/office/powerpoint/2010/main" val="3208263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Existing systems mainly manage basic library work but do not provide smart features for students. </a:t>
            </a:r>
          </a:p>
          <a:p>
            <a:endParaRPr lang="en-US" b="0" dirty="0"/>
          </a:p>
          <a:p>
            <a:r>
              <a:rPr lang="en-US" b="0" dirty="0"/>
              <a:t>Book suggestions are usually general and are not based on each student’s interests.</a:t>
            </a:r>
          </a:p>
          <a:p>
            <a:endParaRPr lang="en-US" b="0" dirty="0"/>
          </a:p>
          <a:p>
            <a:r>
              <a:rPr lang="en-US" b="0" dirty="0"/>
              <a:t> </a:t>
            </a:r>
          </a:p>
          <a:p>
            <a:r>
              <a:rPr lang="en-US" b="0" dirty="0"/>
              <a:t>Borrowing data is not used properly to understand popular books and future book needs. </a:t>
            </a:r>
          </a:p>
          <a:p>
            <a:endParaRPr lang="en-US" b="0" dirty="0"/>
          </a:p>
          <a:p>
            <a:endParaRPr lang="en-US" b="0" dirty="0"/>
          </a:p>
          <a:p>
            <a:r>
              <a:rPr lang="en-US" b="0" dirty="0"/>
              <a:t>Due-date reminders are often missing or not connected with the main library system.</a:t>
            </a:r>
          </a:p>
          <a:p>
            <a:r>
              <a:rPr lang="en-US" b="0" dirty="0"/>
              <a:t> </a:t>
            </a:r>
          </a:p>
          <a:p>
            <a:r>
              <a:rPr lang="en-US" b="0" dirty="0"/>
              <a:t>Our system combines library management and personalized book recommendations in one platform.</a:t>
            </a:r>
          </a:p>
          <a:p>
            <a:r>
              <a:rPr lang="en-US" b="0" dirty="0"/>
              <a:t> </a:t>
            </a:r>
          </a:p>
          <a:p>
            <a:r>
              <a:rPr lang="en-US" b="0" dirty="0"/>
              <a:t>It uses students’ reading history and interests to suggest suitable books. </a:t>
            </a:r>
          </a:p>
          <a:p>
            <a:endParaRPr lang="en-US" b="0" dirty="0"/>
          </a:p>
          <a:p>
            <a:endParaRPr lang="en-US" b="0" dirty="0"/>
          </a:p>
          <a:p>
            <a:r>
              <a:rPr lang="en-US" b="0" dirty="0"/>
              <a:t>It uses borrowing data to identify popular books and help librarians choose new books. </a:t>
            </a:r>
          </a:p>
          <a:p>
            <a:endParaRPr lang="en-US" b="0" dirty="0"/>
          </a:p>
          <a:p>
            <a:endParaRPr lang="en-US" b="0" dirty="0"/>
          </a:p>
          <a:p>
            <a:r>
              <a:rPr lang="en-US" b="0" dirty="0"/>
              <a:t>It provides timely reminders to help students return books on time. </a:t>
            </a:r>
          </a:p>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7</a:t>
            </a:fld>
            <a:endParaRPr lang="en-US"/>
          </a:p>
        </p:txBody>
      </p:sp>
    </p:spTree>
    <p:extLst>
      <p:ext uri="{BB962C8B-B14F-4D97-AF65-F5344CB8AC3E}">
        <p14:creationId xmlns:p14="http://schemas.microsoft.com/office/powerpoint/2010/main" val="3107794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1 – Login:</a:t>
            </a:r>
            <a:r>
              <a:rPr lang="en-US" dirty="0"/>
              <a:t> The student or librarian logs into the system. </a:t>
            </a:r>
          </a:p>
          <a:p>
            <a:endParaRPr lang="en-US" b="1" dirty="0"/>
          </a:p>
          <a:p>
            <a:r>
              <a:rPr lang="en-US" b="1" dirty="0"/>
              <a:t>Step 2 – Search &amp; Browse:</a:t>
            </a:r>
            <a:r>
              <a:rPr lang="en-US" dirty="0"/>
              <a:t> The user searches for books and checks the available books. </a:t>
            </a:r>
          </a:p>
          <a:p>
            <a:endParaRPr lang="en-US" b="1" dirty="0"/>
          </a:p>
          <a:p>
            <a:r>
              <a:rPr lang="en-US" b="1" dirty="0"/>
              <a:t>Step 3 – Borrow / Return:</a:t>
            </a:r>
            <a:r>
              <a:rPr lang="en-US" dirty="0"/>
              <a:t> The student borrows or returns a book, and the details are saved in the system.</a:t>
            </a:r>
          </a:p>
          <a:p>
            <a:endParaRPr lang="en-US" dirty="0"/>
          </a:p>
          <a:p>
            <a:r>
              <a:rPr lang="en-US" b="1" dirty="0"/>
              <a:t>Step 4 – AI Analysis:</a:t>
            </a:r>
            <a:r>
              <a:rPr lang="en-US" dirty="0"/>
              <a:t> The AI system checks the student’s reading history and interests. </a:t>
            </a:r>
          </a:p>
          <a:p>
            <a:endParaRPr lang="en-US" b="1" dirty="0"/>
          </a:p>
          <a:p>
            <a:r>
              <a:rPr lang="en-US" b="1" dirty="0"/>
              <a:t>Step 5 – Recommendation:</a:t>
            </a:r>
            <a:r>
              <a:rPr lang="en-US" dirty="0"/>
              <a:t> The system shows personalized book suggestions to the student.</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9</a:t>
            </a:fld>
            <a:endParaRPr lang="en-US"/>
          </a:p>
        </p:txBody>
      </p:sp>
    </p:spTree>
    <p:extLst>
      <p:ext uri="{BB962C8B-B14F-4D97-AF65-F5344CB8AC3E}">
        <p14:creationId xmlns:p14="http://schemas.microsoft.com/office/powerpoint/2010/main" val="2728705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Book Management:</a:t>
            </a:r>
            <a:r>
              <a:rPr lang="en-US" dirty="0"/>
              <a:t> Allows librarians to add, update, search, and check the availability of books. </a:t>
            </a:r>
          </a:p>
          <a:p>
            <a:endParaRPr lang="en-US" dirty="0"/>
          </a:p>
          <a:p>
            <a:r>
              <a:rPr lang="en-US" b="1" dirty="0"/>
              <a:t>User Management:</a:t>
            </a:r>
            <a:r>
              <a:rPr lang="en-US" dirty="0"/>
              <a:t> Manages student and librarian accounts and their details. </a:t>
            </a:r>
          </a:p>
          <a:p>
            <a:endParaRPr lang="en-US" dirty="0"/>
          </a:p>
          <a:p>
            <a:endParaRPr lang="en-US" dirty="0"/>
          </a:p>
          <a:p>
            <a:r>
              <a:rPr lang="en-US" b="1" dirty="0"/>
              <a:t>Transaction Module:</a:t>
            </a:r>
            <a:r>
              <a:rPr lang="en-US" dirty="0"/>
              <a:t> Handles book borrowing, returns, and due dates. </a:t>
            </a:r>
          </a:p>
          <a:p>
            <a:endParaRPr lang="en-US" dirty="0"/>
          </a:p>
          <a:p>
            <a:endParaRPr lang="en-US" dirty="0"/>
          </a:p>
          <a:p>
            <a:r>
              <a:rPr lang="en-US" b="1" dirty="0"/>
              <a:t>Notification Module:</a:t>
            </a:r>
            <a:r>
              <a:rPr lang="en-US" dirty="0"/>
              <a:t> Sends reminders about book return dates. </a:t>
            </a:r>
          </a:p>
          <a:p>
            <a:endParaRPr lang="en-US" dirty="0"/>
          </a:p>
          <a:p>
            <a:endParaRPr lang="en-US" dirty="0"/>
          </a:p>
          <a:p>
            <a:r>
              <a:rPr lang="en-US" b="1" dirty="0"/>
              <a:t>Search &amp; Discovery:</a:t>
            </a:r>
            <a:r>
              <a:rPr lang="en-US" dirty="0"/>
              <a:t> Helps students quickly search for books and check their availability. </a:t>
            </a:r>
          </a:p>
          <a:p>
            <a:endParaRPr lang="en-US" dirty="0"/>
          </a:p>
          <a:p>
            <a:r>
              <a:rPr lang="en-US" b="1" dirty="0"/>
              <a:t>AI Recommendation Engine:</a:t>
            </a:r>
            <a:r>
              <a:rPr lang="en-US" dirty="0"/>
              <a:t> Suggests books based on students’ reading history and interests. </a:t>
            </a:r>
          </a:p>
          <a:p>
            <a:endParaRPr lang="en-US" dirty="0"/>
          </a:p>
          <a:p>
            <a:endParaRPr lang="en-US" dirty="0"/>
          </a:p>
          <a:p>
            <a:r>
              <a:rPr lang="en-US" b="1" dirty="0"/>
              <a:t>Admin Analytics:</a:t>
            </a:r>
            <a:r>
              <a:rPr lang="en-US" dirty="0"/>
              <a:t> Helps librarians understand popular books and book demand.</a:t>
            </a:r>
          </a:p>
          <a:p>
            <a:r>
              <a:rPr lang="en-US" dirty="0"/>
              <a:t> </a:t>
            </a:r>
          </a:p>
          <a:p>
            <a:r>
              <a:rPr lang="en-US" b="1" dirty="0"/>
              <a:t>Authentication:</a:t>
            </a:r>
            <a:r>
              <a:rPr lang="en-US" dirty="0"/>
              <a:t> Provides secure login for students and librarians. </a:t>
            </a:r>
          </a:p>
          <a:p>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10</a:t>
            </a:fld>
            <a:endParaRPr lang="en-US"/>
          </a:p>
        </p:txBody>
      </p:sp>
    </p:spTree>
    <p:extLst>
      <p:ext uri="{BB962C8B-B14F-4D97-AF65-F5344CB8AC3E}">
        <p14:creationId xmlns:p14="http://schemas.microsoft.com/office/powerpoint/2010/main" val="2691961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AI-powered library management system makes library work easier, faster, and more organized by managing books, students, borrowing, and returns in one place. It also helps students search for books and provides recommendations based on their interests and reading history. </a:t>
            </a:r>
            <a:r>
              <a:rPr lang="en-US"/>
              <a:t>In the future, the system can be improved with more accurate AI recommendations, a mobile app, voice search, and better analysis of borrowing data to identify popular books and support future book purchases.</a:t>
            </a:r>
            <a:endParaRPr lang="en-IN" dirty="0"/>
          </a:p>
        </p:txBody>
      </p:sp>
      <p:sp>
        <p:nvSpPr>
          <p:cNvPr id="4" name="Slide Number Placeholder 3"/>
          <p:cNvSpPr>
            <a:spLocks noGrp="1"/>
          </p:cNvSpPr>
          <p:nvPr>
            <p:ph type="sldNum" sz="quarter" idx="5"/>
          </p:nvPr>
        </p:nvSpPr>
        <p:spPr/>
        <p:txBody>
          <a:bodyPr/>
          <a:lstStyle/>
          <a:p>
            <a:fld id="{9F19044B-B5AF-477C-950C-4ED51263438D}" type="slidenum">
              <a:rPr lang="en-US" smtClean="0"/>
              <a:t>11</a:t>
            </a:fld>
            <a:endParaRPr lang="en-US"/>
          </a:p>
        </p:txBody>
      </p:sp>
    </p:spTree>
    <p:extLst>
      <p:ext uri="{BB962C8B-B14F-4D97-AF65-F5344CB8AC3E}">
        <p14:creationId xmlns:p14="http://schemas.microsoft.com/office/powerpoint/2010/main" val="3709844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11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11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11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11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svg"/><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png"/><Relationship Id="rId4" Type="http://schemas.openxmlformats.org/officeDocument/2006/relationships/hyperlink" Target="https://svgsilh.com/03a9f4/image/98809.html" TargetMode="Externa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endParaRPr lang="en-IN" sz="2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48510611"/>
              </p:ext>
            </p:extLst>
          </p:nvPr>
        </p:nvGraphicFramePr>
        <p:xfrm>
          <a:off x="8153400" y="4165410"/>
          <a:ext cx="3741921" cy="2447380"/>
        </p:xfrm>
        <a:graphic>
          <a:graphicData uri="http://schemas.openxmlformats.org/drawingml/2006/table">
            <a:tbl>
              <a:tblPr firstRow="1" bandRow="1">
                <a:tableStyleId>{5940675A-B579-460E-94D1-54222C63F5DA}</a:tableStyleId>
              </a:tblPr>
              <a:tblGrid>
                <a:gridCol w="3741921">
                  <a:extLst>
                    <a:ext uri="{9D8B030D-6E8A-4147-A177-3AD203B41FA5}">
                      <a16:colId xmlns:a16="http://schemas.microsoft.com/office/drawing/2014/main" val="40058472"/>
                    </a:ext>
                  </a:extLst>
                </a:gridCol>
              </a:tblGrid>
              <a:tr h="24473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 </a:t>
                      </a:r>
                    </a:p>
                    <a:p>
                      <a:pPr marL="0" algn="l" defTabSz="914400" rtl="0" eaLnBrk="1" latinLnBrk="0" hangingPunct="1"/>
                      <a:r>
                        <a:rPr lang="en-IN" sz="1600" b="1" kern="1200" dirty="0">
                          <a:solidFill>
                            <a:schemeClr val="accent1"/>
                          </a:solidFill>
                          <a:latin typeface="Times New Roman" panose="02020603050405020304" pitchFamily="18" charset="0"/>
                          <a:ea typeface="Cambria"/>
                          <a:cs typeface="Times New Roman" panose="02020603050405020304" pitchFamily="18" charset="0"/>
                        </a:rPr>
                        <a:t>Names: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accent1"/>
                          </a:solidFill>
                          <a:latin typeface="Times New Roman" panose="02020603050405020304" pitchFamily="18" charset="0"/>
                          <a:ea typeface="Cambria"/>
                          <a:cs typeface="Times New Roman" panose="02020603050405020304" pitchFamily="18" charset="0"/>
                        </a:rPr>
                        <a:t>Roll Numbers: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685444154"/>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Kalidindi</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Bhavya Varma</a:t>
                      </a:r>
                    </a:p>
                    <a:p>
                      <a:pPr marL="0" indent="0" algn="l">
                        <a:lnSpc>
                          <a:spcPct val="100000"/>
                        </a:lnSpc>
                        <a:spcBef>
                          <a:spcPts val="200"/>
                        </a:spcBef>
                        <a:buSzPts val="810"/>
                        <a:buNone/>
                      </a:pPr>
                      <a:r>
                        <a:rPr lang="en-US" sz="1400" dirty="0" err="1">
                          <a:solidFill>
                            <a:schemeClr val="dk1"/>
                          </a:solidFill>
                          <a:latin typeface="Times New Roman" panose="02020603050405020304" pitchFamily="18" charset="0"/>
                          <a:ea typeface="Cambria"/>
                          <a:cs typeface="Times New Roman" panose="02020603050405020304" pitchFamily="18" charset="0"/>
                          <a:sym typeface="Cambria"/>
                        </a:rPr>
                        <a:t>Assiantant</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endParaRPr lang="en-IN" b="1" dirty="0"/>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830997"/>
          </a:xfrm>
          <a:prstGeom prst="rect">
            <a:avLst/>
          </a:prstGeom>
          <a:noFill/>
        </p:spPr>
        <p:txBody>
          <a:bodyPr wrap="square">
            <a:spAutoFit/>
          </a:bodyPr>
          <a:lstStyle/>
          <a:p>
            <a:pPr lvl="0" algn="ctr">
              <a:defRPr/>
            </a:pPr>
            <a:r>
              <a:rPr lang="en-US" sz="2400" b="1" dirty="0">
                <a:solidFill>
                  <a:schemeClr val="bg1"/>
                </a:solidFill>
                <a:latin typeface="Times New Roman" panose="02020603050405020304" pitchFamily="18" charset="0"/>
                <a:cs typeface="Times New Roman" panose="02020603050405020304" pitchFamily="18" charset="0"/>
              </a:rPr>
              <a:t>AI-Powered Smart Library Management and Personalized</a:t>
            </a:r>
          </a:p>
          <a:p>
            <a:pPr lvl="0" algn="ctr">
              <a:defRPr/>
            </a:pPr>
            <a:r>
              <a:rPr lang="en-US" sz="2400" b="1" dirty="0">
                <a:solidFill>
                  <a:schemeClr val="bg1"/>
                </a:solidFill>
                <a:latin typeface="Times New Roman" panose="02020603050405020304" pitchFamily="18" charset="0"/>
                <a:cs typeface="Times New Roman" panose="02020603050405020304" pitchFamily="18" charset="0"/>
              </a:rPr>
              <a:t>Book Recommendation System</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ASE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Methodology</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10"/>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4171307" y="184936"/>
            <a:ext cx="5916589"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3"/>
          <a:stretch>
            <a:fillRect/>
          </a:stretch>
        </p:blipFill>
        <p:spPr>
          <a:xfrm>
            <a:off x="10249380" y="0"/>
            <a:ext cx="1942620" cy="622550"/>
          </a:xfrm>
          <a:prstGeom prst="rect">
            <a:avLst/>
          </a:prstGeom>
        </p:spPr>
      </p:pic>
      <p:sp>
        <p:nvSpPr>
          <p:cNvPr id="101" name="Card 101"/>
          <p:cNvSpPr/>
          <p:nvPr/>
        </p:nvSpPr>
        <p:spPr>
          <a:xfrm>
            <a:off x="457200" y="831267"/>
            <a:ext cx="5488800" cy="3805613"/>
          </a:xfrm>
          <a:prstGeom prst="roundRect">
            <a:avLst>
              <a:gd name="adj" fmla="val 4000"/>
            </a:avLst>
          </a:prstGeom>
          <a:solidFill>
            <a:srgbClr val="F2F7FC"/>
          </a:solidFill>
          <a:ln>
            <a:noFill/>
          </a:ln>
          <a:effectLst>
            <a:outerShdw blurRad="90000" dist="30000" dir="5400000" rotWithShape="0">
              <a:srgbClr val="000000">
                <a:alpha val="12000"/>
              </a:srgbClr>
            </a:outerShdw>
          </a:effectLst>
        </p:spPr>
        <p:txBody>
          <a:bodyPr wrap="square" lIns="274320" tIns="228600" rIns="274320" bIns="228600" anchor="t">
            <a:normAutofit lnSpcReduction="10000"/>
          </a:bodyPr>
          <a:lstStyle/>
          <a:p>
            <a:pPr>
              <a:spcAft>
                <a:spcPts val="800"/>
              </a:spcAft>
            </a:pPr>
            <a:r>
              <a:rPr lang="en-US" sz="1800" b="1" dirty="0">
                <a:solidFill>
                  <a:srgbClr val="0070C0"/>
                </a:solidFill>
                <a:latin typeface="Times New Roman"/>
                <a:cs typeface="Times New Roman"/>
              </a:rPr>
              <a:t>Traditional Library Systems</a:t>
            </a:r>
          </a:p>
          <a:p>
            <a:pPr marL="228600" indent="-228600">
              <a:spcAft>
                <a:spcPts val="600"/>
              </a:spcAft>
              <a:buFont typeface="Arial"/>
              <a:buChar char="•"/>
            </a:pPr>
            <a:r>
              <a:rPr lang="en-US" b="0" dirty="0">
                <a:solidFill>
                  <a:srgbClr val="404040"/>
                </a:solidFill>
                <a:latin typeface="Times New Roman"/>
                <a:cs typeface="Times New Roman"/>
              </a:rPr>
              <a:t>Book cataloguing, issuing, returns, and due-date tracking are handled through manual or semi-manual processes</a:t>
            </a:r>
          </a:p>
          <a:p>
            <a:pPr marL="228600" indent="-228600">
              <a:spcAft>
                <a:spcPts val="600"/>
              </a:spcAft>
              <a:buFont typeface="Arial"/>
              <a:buChar char="•"/>
            </a:pPr>
            <a:r>
              <a:rPr lang="en-US" b="0" dirty="0">
                <a:solidFill>
                  <a:srgbClr val="404040"/>
                </a:solidFill>
                <a:latin typeface="Times New Roman"/>
                <a:cs typeface="Times New Roman"/>
              </a:rPr>
              <a:t>Students struggle to search for available books, check due dates, or discover titles matching their interests</a:t>
            </a:r>
          </a:p>
          <a:p>
            <a:pPr marL="228600" indent="-228600">
              <a:spcAft>
                <a:spcPts val="600"/>
              </a:spcAft>
              <a:buFont typeface="Arial"/>
              <a:buChar char="•"/>
            </a:pPr>
            <a:r>
              <a:rPr lang="en-US" b="0" dirty="0">
                <a:solidFill>
                  <a:srgbClr val="404040"/>
                </a:solidFill>
                <a:latin typeface="Times New Roman"/>
                <a:cs typeface="Times New Roman"/>
              </a:rPr>
              <a:t>Librarians lack a centralised system to manage book records, user accounts, and transactions</a:t>
            </a:r>
          </a:p>
          <a:p>
            <a:pPr marL="228600" indent="-228600">
              <a:spcAft>
                <a:spcPts val="600"/>
              </a:spcAft>
              <a:buFont typeface="Arial"/>
              <a:buChar char="•"/>
            </a:pPr>
            <a:r>
              <a:rPr lang="en-US" b="0" dirty="0">
                <a:solidFill>
                  <a:srgbClr val="404040"/>
                </a:solidFill>
                <a:latin typeface="Times New Roman"/>
                <a:cs typeface="Times New Roman"/>
              </a:rPr>
              <a:t>No personalized book recommendations are offered to users</a:t>
            </a:r>
          </a:p>
        </p:txBody>
      </p:sp>
      <p:sp>
        <p:nvSpPr>
          <p:cNvPr id="102" name="Card 102"/>
          <p:cNvSpPr/>
          <p:nvPr/>
        </p:nvSpPr>
        <p:spPr>
          <a:xfrm>
            <a:off x="6246002" y="831268"/>
            <a:ext cx="5336398" cy="3805612"/>
          </a:xfrm>
          <a:prstGeom prst="roundRect">
            <a:avLst>
              <a:gd name="adj" fmla="val 4000"/>
            </a:avLst>
          </a:prstGeom>
          <a:solidFill>
            <a:srgbClr val="EAF3FF"/>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Proposed Approach</a:t>
            </a:r>
          </a:p>
          <a:p>
            <a:pPr marL="228600" indent="-228600">
              <a:spcAft>
                <a:spcPts val="600"/>
              </a:spcAft>
              <a:buFont typeface="Arial"/>
              <a:buChar char="•"/>
            </a:pPr>
            <a:r>
              <a:rPr lang="en-US" b="0" dirty="0">
                <a:solidFill>
                  <a:srgbClr val="404040"/>
                </a:solidFill>
                <a:latin typeface="Times New Roman"/>
                <a:cs typeface="Times New Roman"/>
              </a:rPr>
              <a:t>A centralised platform automates book records, student data, borrowing, returns, and due-date tracking</a:t>
            </a:r>
          </a:p>
          <a:p>
            <a:pPr marL="228600" indent="-228600">
              <a:spcAft>
                <a:spcPts val="600"/>
              </a:spcAft>
              <a:buFont typeface="Arial"/>
              <a:buChar char="•"/>
            </a:pPr>
            <a:r>
              <a:rPr lang="en-US" b="0" dirty="0">
                <a:solidFill>
                  <a:srgbClr val="404040"/>
                </a:solidFill>
                <a:latin typeface="Times New Roman"/>
                <a:cs typeface="Times New Roman"/>
              </a:rPr>
              <a:t>Students get an organized search interface with real-time availability and return notifications</a:t>
            </a:r>
          </a:p>
          <a:p>
            <a:pPr marL="228600" indent="-228600">
              <a:spcAft>
                <a:spcPts val="600"/>
              </a:spcAft>
              <a:buFont typeface="Arial"/>
              <a:buChar char="•"/>
            </a:pPr>
            <a:r>
              <a:rPr lang="en-US" b="0" dirty="0">
                <a:solidFill>
                  <a:srgbClr val="404040"/>
                </a:solidFill>
                <a:latin typeface="Times New Roman"/>
                <a:cs typeface="Times New Roman"/>
              </a:rPr>
              <a:t>Librarians manage book records, user accounts, and transactions through one organized interface</a:t>
            </a:r>
          </a:p>
          <a:p>
            <a:pPr marL="228600" indent="-228600">
              <a:spcAft>
                <a:spcPts val="600"/>
              </a:spcAft>
              <a:buFont typeface="Arial"/>
              <a:buChar char="•"/>
            </a:pPr>
            <a:r>
              <a:rPr lang="en-US" b="0" dirty="0">
                <a:solidFill>
                  <a:srgbClr val="404040"/>
                </a:solidFill>
                <a:latin typeface="Times New Roman"/>
                <a:cs typeface="Times New Roman"/>
              </a:rPr>
              <a:t>AI/ML techniques recommend books based on reading history, interests, and preferred genres</a:t>
            </a:r>
          </a:p>
        </p:txBody>
      </p:sp>
      <p:sp>
        <p:nvSpPr>
          <p:cNvPr id="6" name="Card 102">
            <a:extLst>
              <a:ext uri="{FF2B5EF4-FFF2-40B4-BE49-F238E27FC236}">
                <a16:creationId xmlns:a16="http://schemas.microsoft.com/office/drawing/2014/main" id="{C424757F-7C78-4F00-BAB3-7F7F7FEB5CC1}"/>
              </a:ext>
            </a:extLst>
          </p:cNvPr>
          <p:cNvSpPr/>
          <p:nvPr/>
        </p:nvSpPr>
        <p:spPr>
          <a:xfrm>
            <a:off x="369870" y="4845598"/>
            <a:ext cx="11363218" cy="1827466"/>
          </a:xfrm>
          <a:prstGeom prst="roundRect">
            <a:avLst>
              <a:gd name="adj" fmla="val 4000"/>
            </a:avLst>
          </a:prstGeom>
          <a:solidFill>
            <a:srgbClr val="EAF3FF"/>
          </a:solidFill>
          <a:ln>
            <a:noFill/>
          </a:ln>
          <a:effectLst>
            <a:outerShdw blurRad="90000" dist="30000" dir="5400000" rotWithShape="0">
              <a:srgbClr val="000000">
                <a:alpha val="12000"/>
              </a:srgbClr>
            </a:outerShdw>
          </a:effectLst>
        </p:spPr>
        <p:txBody>
          <a:bodyPr wrap="square" lIns="274320" tIns="228600" rIns="274320" bIns="228600" anchor="t">
            <a:normAutofit fontScale="25000" lnSpcReduction="20000"/>
          </a:bodyPr>
          <a:lstStyle/>
          <a:p>
            <a:pPr>
              <a:spcAft>
                <a:spcPts val="800"/>
              </a:spcAft>
            </a:pPr>
            <a:r>
              <a:rPr lang="en-US" sz="6400" b="1" dirty="0">
                <a:solidFill>
                  <a:srgbClr val="0070C0"/>
                </a:solidFill>
                <a:latin typeface="Times New Roman"/>
                <a:cs typeface="Times New Roman"/>
              </a:rPr>
              <a:t>Benefits of the Proposed Approach</a:t>
            </a:r>
          </a:p>
          <a:p>
            <a:pPr marL="228600" indent="-228600">
              <a:spcAft>
                <a:spcPts val="600"/>
              </a:spcAft>
              <a:buFont typeface="Arial"/>
              <a:buChar char="•"/>
            </a:pPr>
            <a:r>
              <a:rPr lang="en-US" sz="6400" dirty="0">
                <a:latin typeface="Times New Roman" panose="02020603050405020304" pitchFamily="18" charset="0"/>
                <a:cs typeface="Times New Roman" panose="02020603050405020304" pitchFamily="18" charset="0"/>
              </a:rPr>
              <a:t>The system reduces manual work by automatically managing book records, student details, borrowing, returns, and due dates.</a:t>
            </a:r>
          </a:p>
          <a:p>
            <a:pPr marL="228600" indent="-228600">
              <a:spcAft>
                <a:spcPts val="600"/>
              </a:spcAft>
              <a:buFont typeface="Arial"/>
              <a:buChar char="•"/>
            </a:pPr>
            <a:r>
              <a:rPr lang="en-US" sz="6400" dirty="0">
                <a:latin typeface="Times New Roman" panose="02020603050405020304" pitchFamily="18" charset="0"/>
                <a:cs typeface="Times New Roman" panose="02020603050405020304" pitchFamily="18" charset="0"/>
              </a:rPr>
              <a:t>Students can easily search for books and quickly check whether the required book is available in the </a:t>
            </a:r>
            <a:r>
              <a:rPr lang="en-US" sz="6400" dirty="0" err="1">
                <a:latin typeface="Times New Roman" panose="02020603050405020304" pitchFamily="18" charset="0"/>
                <a:cs typeface="Times New Roman" panose="02020603050405020304" pitchFamily="18" charset="0"/>
              </a:rPr>
              <a:t>library.</a:t>
            </a:r>
            <a:r>
              <a:rPr lang="en-US" sz="6400" b="0" dirty="0" err="1">
                <a:solidFill>
                  <a:srgbClr val="404040"/>
                </a:solidFill>
                <a:latin typeface="Times New Roman" panose="02020603050405020304" pitchFamily="18" charset="0"/>
                <a:cs typeface="Times New Roman" panose="02020603050405020304" pitchFamily="18" charset="0"/>
              </a:rPr>
              <a:t>Librarians</a:t>
            </a:r>
            <a:r>
              <a:rPr lang="en-US" sz="6400" b="0" dirty="0">
                <a:solidFill>
                  <a:srgbClr val="404040"/>
                </a:solidFill>
                <a:latin typeface="Times New Roman" panose="02020603050405020304" pitchFamily="18" charset="0"/>
                <a:cs typeface="Times New Roman" panose="02020603050405020304" pitchFamily="18" charset="0"/>
              </a:rPr>
              <a:t> manage book records, user accounts, and transactions through one organized interface</a:t>
            </a:r>
          </a:p>
          <a:p>
            <a:pPr marL="228600" indent="-228600">
              <a:spcAft>
                <a:spcPts val="600"/>
              </a:spcAft>
              <a:buFont typeface="Arial"/>
              <a:buChar char="•"/>
            </a:pPr>
            <a:r>
              <a:rPr lang="en-US" sz="6400" dirty="0">
                <a:latin typeface="Times New Roman" panose="02020603050405020304" pitchFamily="18" charset="0"/>
                <a:cs typeface="Times New Roman" panose="02020603050405020304" pitchFamily="18" charset="0"/>
              </a:rPr>
              <a:t>The system sends reminders about book return dates, helping students return books on time and avoid late returns</a:t>
            </a:r>
          </a:p>
          <a:p>
            <a:pPr marL="228600" indent="-228600">
              <a:spcAft>
                <a:spcPts val="600"/>
              </a:spcAft>
              <a:buFont typeface="Arial"/>
              <a:buChar char="•"/>
            </a:pPr>
            <a:r>
              <a:rPr lang="en-US" sz="6400" dirty="0">
                <a:latin typeface="Times New Roman" panose="02020603050405020304" pitchFamily="18" charset="0"/>
                <a:cs typeface="Times New Roman" panose="02020603050405020304" pitchFamily="18" charset="0"/>
              </a:rPr>
              <a:t>The AI system suggests suitable books based on students’ reading history, interests, and preferred genres</a:t>
            </a:r>
            <a:r>
              <a:rPr lang="en-US" sz="6400" dirty="0"/>
              <a:t>.</a:t>
            </a:r>
            <a:endParaRPr lang="en-US" sz="6400" b="0" dirty="0">
              <a:solidFill>
                <a:srgbClr val="40404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103" name="List 103"/>
          <p:cNvSpPr txBox="1"/>
          <p:nvPr/>
        </p:nvSpPr>
        <p:spPr>
          <a:xfrm>
            <a:off x="800000" y="1450000"/>
            <a:ext cx="5250000" cy="4900000"/>
          </a:xfrm>
          <a:prstGeom prst="rect">
            <a:avLst/>
          </a:prstGeom>
          <a:noFill/>
        </p:spPr>
        <p:txBody>
          <a:bodyPr wrap="square" anchor="t">
            <a:normAutofit/>
          </a:bodyPr>
          <a:lstStyle/>
          <a:p>
            <a:pPr marL="0" indent="0">
              <a:spcBef>
                <a:spcPts val="400"/>
              </a:spcBef>
              <a:spcAft>
                <a:spcPts val="200"/>
              </a:spcAft>
              <a:buNone/>
            </a:pPr>
            <a:r>
              <a:rPr lang="en-US" sz="1500" b="1" dirty="0">
                <a:solidFill>
                  <a:srgbClr val="0070C0"/>
                </a:solidFill>
                <a:latin typeface="Times New Roman"/>
                <a:cs typeface="Times New Roman"/>
              </a:rPr>
              <a:t>1. Design a Centralised Management Platform</a:t>
            </a:r>
          </a:p>
          <a:p>
            <a:pPr marL="342900" indent="0">
              <a:spcAft>
                <a:spcPts val="500"/>
              </a:spcAft>
              <a:buNone/>
            </a:pPr>
            <a:r>
              <a:rPr lang="en-US" sz="1600" dirty="0">
                <a:solidFill>
                  <a:srgbClr val="404040"/>
                </a:solidFill>
                <a:latin typeface="Times New Roman"/>
                <a:cs typeface="Times New Roman"/>
              </a:rPr>
              <a:t>Automate core library operations: managing books, student records, borrowing, returns, due dates, and availability.</a:t>
            </a:r>
          </a:p>
          <a:p>
            <a:pPr marL="0" indent="0">
              <a:spcBef>
                <a:spcPts val="400"/>
              </a:spcBef>
              <a:spcAft>
                <a:spcPts val="200"/>
              </a:spcAft>
              <a:buNone/>
            </a:pPr>
            <a:r>
              <a:rPr lang="en-US" sz="1500" b="1" dirty="0">
                <a:solidFill>
                  <a:srgbClr val="0070C0"/>
                </a:solidFill>
                <a:latin typeface="Times New Roman"/>
                <a:cs typeface="Times New Roman"/>
              </a:rPr>
              <a:t>2. Simplify Book Search and Discovery</a:t>
            </a:r>
          </a:p>
          <a:p>
            <a:pPr marL="342900" indent="0">
              <a:spcAft>
                <a:spcPts val="500"/>
              </a:spcAft>
              <a:buNone/>
            </a:pPr>
            <a:r>
              <a:rPr lang="en-US" sz="1600" dirty="0">
                <a:solidFill>
                  <a:srgbClr val="404040"/>
                </a:solidFill>
                <a:latin typeface="Times New Roman"/>
                <a:cs typeface="Times New Roman"/>
              </a:rPr>
              <a:t>Provide students and staff with an easy way to search and access information about available books.</a:t>
            </a:r>
          </a:p>
          <a:p>
            <a:pPr marL="0" indent="0">
              <a:spcBef>
                <a:spcPts val="400"/>
              </a:spcBef>
              <a:spcAft>
                <a:spcPts val="200"/>
              </a:spcAft>
              <a:buNone/>
            </a:pPr>
            <a:r>
              <a:rPr lang="en-US" sz="1500" b="1" dirty="0">
                <a:solidFill>
                  <a:srgbClr val="0070C0"/>
                </a:solidFill>
                <a:latin typeface="Times New Roman"/>
                <a:cs typeface="Times New Roman"/>
              </a:rPr>
              <a:t>3. Enable Borrowing History and Notifications</a:t>
            </a:r>
          </a:p>
          <a:p>
            <a:pPr marL="342900" indent="0">
              <a:spcAft>
                <a:spcPts val="500"/>
              </a:spcAft>
              <a:buNone/>
            </a:pPr>
            <a:r>
              <a:rPr lang="en-US" sz="1600" dirty="0">
                <a:solidFill>
                  <a:srgbClr val="404040"/>
                </a:solidFill>
                <a:latin typeface="Times New Roman"/>
                <a:cs typeface="Times New Roman"/>
              </a:rPr>
              <a:t>Let students view their borrowing history, track due dates, and receive timely return notifications.</a:t>
            </a:r>
          </a:p>
        </p:txBody>
      </p:sp>
      <p:sp>
        <p:nvSpPr>
          <p:cNvPr id="104" name="List 104"/>
          <p:cNvSpPr txBox="1"/>
          <p:nvPr/>
        </p:nvSpPr>
        <p:spPr>
          <a:xfrm>
            <a:off x="6142002" y="1450000"/>
            <a:ext cx="5250000" cy="4900000"/>
          </a:xfrm>
          <a:prstGeom prst="rect">
            <a:avLst/>
          </a:prstGeom>
          <a:noFill/>
        </p:spPr>
        <p:txBody>
          <a:bodyPr wrap="square" anchor="t">
            <a:normAutofit/>
          </a:bodyPr>
          <a:lstStyle/>
          <a:p>
            <a:pPr marL="0" indent="0">
              <a:spcBef>
                <a:spcPts val="400"/>
              </a:spcBef>
              <a:spcAft>
                <a:spcPts val="200"/>
              </a:spcAft>
              <a:buNone/>
            </a:pPr>
            <a:r>
              <a:rPr lang="en-US" sz="1500" b="1" dirty="0">
                <a:solidFill>
                  <a:srgbClr val="0070C0"/>
                </a:solidFill>
                <a:latin typeface="Times New Roman"/>
                <a:cs typeface="Times New Roman"/>
              </a:rPr>
              <a:t>4. Organise Library Administration</a:t>
            </a:r>
          </a:p>
          <a:p>
            <a:pPr marL="342900" indent="0">
              <a:spcAft>
                <a:spcPts val="500"/>
              </a:spcAft>
              <a:buNone/>
            </a:pPr>
            <a:r>
              <a:rPr lang="en-US" sz="1600" dirty="0">
                <a:solidFill>
                  <a:srgbClr val="404040"/>
                </a:solidFill>
                <a:latin typeface="Times New Roman"/>
                <a:cs typeface="Times New Roman"/>
              </a:rPr>
              <a:t>Give librarians an organised interface for managing book records, user accounts, and transactions efficiently.</a:t>
            </a:r>
          </a:p>
          <a:p>
            <a:pPr marL="0" indent="0">
              <a:spcBef>
                <a:spcPts val="400"/>
              </a:spcBef>
              <a:spcAft>
                <a:spcPts val="200"/>
              </a:spcAft>
              <a:buNone/>
            </a:pPr>
            <a:r>
              <a:rPr lang="en-US" sz="1500" b="1" dirty="0">
                <a:solidFill>
                  <a:srgbClr val="0070C0"/>
                </a:solidFill>
                <a:latin typeface="Times New Roman"/>
                <a:cs typeface="Times New Roman"/>
              </a:rPr>
              <a:t>5. Deliver AI-Powered Recommendations</a:t>
            </a:r>
          </a:p>
          <a:p>
            <a:pPr marL="342900" indent="0">
              <a:spcAft>
                <a:spcPts val="500"/>
              </a:spcAft>
              <a:buNone/>
            </a:pPr>
            <a:r>
              <a:rPr lang="en-US" sz="1600" dirty="0">
                <a:solidFill>
                  <a:srgbClr val="404040"/>
                </a:solidFill>
                <a:latin typeface="Times New Roman"/>
                <a:cs typeface="Times New Roman"/>
              </a:rPr>
              <a:t>Build an AI-based recommendation module that analyses reading history, interests, and preferred genres to suggest relevant books.</a:t>
            </a:r>
          </a:p>
          <a:p>
            <a:pPr marL="0" indent="0">
              <a:spcBef>
                <a:spcPts val="400"/>
              </a:spcBef>
              <a:spcAft>
                <a:spcPts val="200"/>
              </a:spcAft>
              <a:buNone/>
            </a:pPr>
            <a:r>
              <a:rPr lang="en-US" sz="1500" b="1" dirty="0">
                <a:solidFill>
                  <a:srgbClr val="0070C0"/>
                </a:solidFill>
                <a:latin typeface="Times New Roman"/>
                <a:cs typeface="Times New Roman"/>
              </a:rPr>
              <a:t>6. Support Data-Driven Decisions</a:t>
            </a:r>
          </a:p>
          <a:p>
            <a:pPr marL="342900" indent="0">
              <a:spcAft>
                <a:spcPts val="500"/>
              </a:spcAft>
              <a:buNone/>
            </a:pPr>
            <a:r>
              <a:rPr lang="en-US" sz="1600" dirty="0">
                <a:solidFill>
                  <a:srgbClr val="404040"/>
                </a:solidFill>
                <a:latin typeface="Times New Roman"/>
                <a:cs typeface="Times New Roman"/>
              </a:rPr>
              <a:t>Apply machine learning techniques that identify patterns in borrowing behaviour to support decisions on book demand and future acquisitions.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344012633"/>
              </p:ext>
            </p:extLst>
          </p:nvPr>
        </p:nvGraphicFramePr>
        <p:xfrm>
          <a:off x="274646" y="689466"/>
          <a:ext cx="11642705" cy="4720000"/>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20000">
                <a:tc>
                  <a:txBody>
                    <a:bodyPr/>
                    <a:lstStyle/>
                    <a:p>
                      <a:pPr algn="ctr">
                        <a:buNone/>
                      </a:pPr>
                      <a:r>
                        <a:rPr lang="en-US" sz="1200" b="1" dirty="0">
                          <a:solidFill>
                            <a:srgbClr val="FFFFFF"/>
                          </a:solidFill>
                          <a:latin typeface="Times New Roman"/>
                          <a:cs typeface="Times New Roman"/>
                        </a:rPr>
                        <a:t>Authors</a:t>
                      </a:r>
                    </a:p>
                  </a:txBody>
                  <a:tcPr>
                    <a:solidFill>
                      <a:srgbClr val="0070C0"/>
                    </a:solidFill>
                  </a:tcPr>
                </a:tc>
                <a:tc>
                  <a:txBody>
                    <a:bodyPr/>
                    <a:lstStyle/>
                    <a:p>
                      <a:pPr algn="ctr">
                        <a:buNone/>
                      </a:pPr>
                      <a:r>
                        <a:rPr lang="en-US" sz="1200" b="1" dirty="0">
                          <a:solidFill>
                            <a:srgbClr val="FFFFFF"/>
                          </a:solidFill>
                          <a:latin typeface="Times New Roman"/>
                          <a:cs typeface="Times New Roman"/>
                        </a:rPr>
                        <a:t>Title of the Paper</a:t>
                      </a:r>
                    </a:p>
                  </a:txBody>
                  <a:tcPr>
                    <a:solidFill>
                      <a:srgbClr val="0070C0"/>
                    </a:solidFill>
                  </a:tcPr>
                </a:tc>
                <a:tc>
                  <a:txBody>
                    <a:bodyPr/>
                    <a:lstStyle/>
                    <a:p>
                      <a:pPr algn="ctr">
                        <a:buNone/>
                      </a:pPr>
                      <a:r>
                        <a:rPr lang="en-US" sz="1200" b="1" dirty="0">
                          <a:solidFill>
                            <a:srgbClr val="FFFFFF"/>
                          </a:solidFill>
                          <a:latin typeface="Times New Roman"/>
                          <a:cs typeface="Times New Roman"/>
                        </a:rPr>
                        <a:t>Methodology</a:t>
                      </a:r>
                    </a:p>
                  </a:txBody>
                  <a:tcPr>
                    <a:solidFill>
                      <a:srgbClr val="0070C0"/>
                    </a:solidFill>
                  </a:tcPr>
                </a:tc>
                <a:tc>
                  <a:txBody>
                    <a:bodyPr/>
                    <a:lstStyle/>
                    <a:p>
                      <a:pPr algn="ctr">
                        <a:buNone/>
                      </a:pPr>
                      <a:r>
                        <a:rPr lang="en-US" sz="1200" b="1" dirty="0">
                          <a:solidFill>
                            <a:srgbClr val="FFFFFF"/>
                          </a:solidFill>
                          <a:latin typeface="Times New Roman"/>
                          <a:cs typeface="Times New Roman"/>
                        </a:rPr>
                        <a:t>Inferences</a:t>
                      </a:r>
                    </a:p>
                  </a:txBody>
                  <a:tcPr>
                    <a:solidFill>
                      <a:srgbClr val="0070C0"/>
                    </a:solidFill>
                  </a:tcPr>
                </a:tc>
                <a:tc>
                  <a:txBody>
                    <a:bodyPr/>
                    <a:lstStyle/>
                    <a:p>
                      <a:pPr algn="ctr">
                        <a:buNone/>
                      </a:pPr>
                      <a:r>
                        <a:rPr lang="en-US" sz="1200" b="1" dirty="0">
                          <a:solidFill>
                            <a:srgbClr val="FFFFFF"/>
                          </a:solidFill>
                          <a:latin typeface="Times New Roman"/>
                          <a:cs typeface="Times New Roman"/>
                        </a:rPr>
                        <a:t>Limitation / Future Work</a:t>
                      </a:r>
                    </a:p>
                  </a:txBody>
                  <a:tcPr>
                    <a:solidFill>
                      <a:srgbClr val="0070C0"/>
                    </a:solidFill>
                  </a:tcPr>
                </a:tc>
                <a:extLst>
                  <a:ext uri="{0D108BD9-81ED-4DB2-BD59-A6C34878D82A}">
                    <a16:rowId xmlns:a16="http://schemas.microsoft.com/office/drawing/2014/main" val="10000"/>
                  </a:ext>
                </a:extLst>
              </a:tr>
              <a:tr h="880000">
                <a:tc>
                  <a:txBody>
                    <a:bodyPr/>
                    <a:lstStyle/>
                    <a:p>
                      <a:pPr marL="0" indent="0">
                        <a:buNone/>
                      </a:pPr>
                      <a:r>
                        <a:rPr lang="en-US" sz="1100" dirty="0">
                          <a:latin typeface="Times New Roman"/>
                          <a:cs typeface="Times New Roman"/>
                        </a:rPr>
                        <a:t>Rao et al. (2021)</a:t>
                      </a:r>
                    </a:p>
                  </a:txBody>
                  <a:tcPr>
                    <a:lnL w="6350">
                      <a:solidFill>
                        <a:srgbClr val="BFBFBF"/>
                      </a:solidFill>
                    </a:lnL>
                    <a:lnR w="6350">
                      <a:solidFill>
                        <a:srgbClr val="BFBFBF"/>
                      </a:solidFill>
                    </a:lnR>
                    <a:lnB w="6350">
                      <a:solidFill>
                        <a:srgbClr val="BFBFBF"/>
                      </a:solidFill>
                    </a:lnB>
                  </a:tcPr>
                </a:tc>
                <a:tc>
                  <a:txBody>
                    <a:bodyPr/>
                    <a:lstStyle/>
                    <a:p>
                      <a:pPr marL="0" indent="0">
                        <a:buNone/>
                      </a:pPr>
                      <a:r>
                        <a:rPr lang="en-US" sz="1100" dirty="0">
                          <a:latin typeface="Times New Roman"/>
                          <a:cs typeface="Times New Roman"/>
                        </a:rPr>
                        <a:t>A Hybrid Recommender System for Digital Library Book Suggestions</a:t>
                      </a:r>
                    </a:p>
                  </a:txBody>
                  <a:tcPr>
                    <a:lnL w="6350">
                      <a:solidFill>
                        <a:srgbClr val="BFBFBF"/>
                      </a:solidFill>
                    </a:lnL>
                    <a:lnR w="6350">
                      <a:solidFill>
                        <a:srgbClr val="BFBFBF"/>
                      </a:solidFill>
                    </a:lnR>
                    <a:lnB w="6350">
                      <a:solidFill>
                        <a:srgbClr val="BFBFBF"/>
                      </a:solidFill>
                    </a:lnB>
                  </a:tcPr>
                </a:tc>
                <a:tc>
                  <a:txBody>
                    <a:bodyPr/>
                    <a:lstStyle/>
                    <a:p>
                      <a:pPr marL="171450" indent="-171450">
                        <a:buFont typeface="Arial"/>
                        <a:buChar char="•"/>
                      </a:pPr>
                      <a:r>
                        <a:rPr lang="en-US" sz="1100" dirty="0">
                          <a:latin typeface="Times New Roman"/>
                          <a:cs typeface="Times New Roman"/>
                        </a:rPr>
                        <a:t>Collaborative filtering combined with content-based filtering on user ratings</a:t>
                      </a:r>
                    </a:p>
                    <a:p>
                      <a:pPr marL="171450" indent="-171450">
                        <a:buFont typeface="Arial"/>
                        <a:buChar char="•"/>
                      </a:pPr>
                      <a:r>
                        <a:rPr lang="en-US" sz="1100" dirty="0">
                          <a:latin typeface="Times New Roman"/>
                          <a:cs typeface="Times New Roman"/>
                        </a:rPr>
                        <a:t>Book metadata (genre, author, keywords) used as content features</a:t>
                      </a:r>
                    </a:p>
                  </a:txBody>
                  <a:tcPr>
                    <a:lnL w="6350">
                      <a:solidFill>
                        <a:srgbClr val="BFBFBF"/>
                      </a:solidFill>
                    </a:lnL>
                    <a:lnR w="6350">
                      <a:solidFill>
                        <a:srgbClr val="BFBFBF"/>
                      </a:solidFill>
                    </a:lnR>
                    <a:lnB w="6350">
                      <a:solidFill>
                        <a:srgbClr val="BFBFBF"/>
                      </a:solidFill>
                    </a:lnB>
                  </a:tcPr>
                </a:tc>
                <a:tc>
                  <a:txBody>
                    <a:bodyPr/>
                    <a:lstStyle/>
                    <a:p>
                      <a:pPr marL="171450" indent="-171450">
                        <a:buFont typeface="Arial"/>
                        <a:buChar char="•"/>
                      </a:pPr>
                      <a:r>
                        <a:rPr lang="en-US" sz="1100" dirty="0">
                          <a:latin typeface="Times New Roman"/>
                          <a:cs typeface="Times New Roman"/>
                        </a:rPr>
                        <a:t>Hybrid filtering improved recommendation relevance over pure collaborative filtering</a:t>
                      </a:r>
                    </a:p>
                    <a:p>
                      <a:pPr marL="171450" indent="-171450">
                        <a:buFont typeface="Arial"/>
                        <a:buChar char="•"/>
                      </a:pPr>
                      <a:r>
                        <a:rPr lang="en-US" sz="1100" dirty="0">
                          <a:latin typeface="Times New Roman"/>
                          <a:cs typeface="Times New Roman"/>
                        </a:rPr>
                        <a:t>Especially effective for users with limited borrowing history</a:t>
                      </a:r>
                    </a:p>
                  </a:txBody>
                  <a:tcPr>
                    <a:lnL w="6350">
                      <a:solidFill>
                        <a:srgbClr val="BFBFBF"/>
                      </a:solidFill>
                    </a:lnL>
                    <a:lnR w="6350">
                      <a:solidFill>
                        <a:srgbClr val="BFBFBF"/>
                      </a:solidFill>
                    </a:lnR>
                    <a:lnB w="6350">
                      <a:solidFill>
                        <a:srgbClr val="BFBFBF"/>
                      </a:solidFill>
                    </a:lnB>
                  </a:tcPr>
                </a:tc>
                <a:tc>
                  <a:txBody>
                    <a:bodyPr/>
                    <a:lstStyle/>
                    <a:p>
                      <a:pPr marL="171450" indent="-171450">
                        <a:buFont typeface="Arial"/>
                        <a:buChar char="•"/>
                      </a:pPr>
                      <a:r>
                        <a:rPr lang="en-US" sz="1100" dirty="0">
                          <a:latin typeface="Times New Roman"/>
                          <a:cs typeface="Times New Roman"/>
                        </a:rPr>
                        <a:t>Requires sufficient rating/interaction data</a:t>
                      </a:r>
                    </a:p>
                    <a:p>
                      <a:pPr marL="171450" indent="-171450">
                        <a:buFont typeface="Arial"/>
                        <a:buChar char="•"/>
                      </a:pPr>
                      <a:r>
                        <a:rPr lang="en-US" sz="1100" dirty="0">
                          <a:latin typeface="Times New Roman"/>
                          <a:cs typeface="Times New Roman"/>
                        </a:rPr>
                        <a:t>Cold-start problem persists for newly added books</a:t>
                      </a:r>
                    </a:p>
                  </a:txBody>
                  <a:tcPr>
                    <a:lnL w="6350">
                      <a:solidFill>
                        <a:srgbClr val="BFBFBF"/>
                      </a:solidFill>
                    </a:lnL>
                    <a:lnR w="6350">
                      <a:solidFill>
                        <a:srgbClr val="BFBFBF"/>
                      </a:solidFill>
                    </a:lnR>
                    <a:lnB w="6350">
                      <a:solidFill>
                        <a:srgbClr val="BFBFBF"/>
                      </a:solidFill>
                    </a:lnB>
                  </a:tcPr>
                </a:tc>
                <a:extLst>
                  <a:ext uri="{0D108BD9-81ED-4DB2-BD59-A6C34878D82A}">
                    <a16:rowId xmlns:a16="http://schemas.microsoft.com/office/drawing/2014/main" val="10001"/>
                  </a:ext>
                </a:extLst>
              </a:tr>
              <a:tr h="880000">
                <a:tc>
                  <a:txBody>
                    <a:bodyPr/>
                    <a:lstStyle/>
                    <a:p>
                      <a:pPr marL="0" indent="0">
                        <a:buNone/>
                      </a:pPr>
                      <a:r>
                        <a:rPr lang="en-US" sz="1100" dirty="0">
                          <a:latin typeface="Times New Roman"/>
                          <a:cs typeface="Times New Roman"/>
                        </a:rPr>
                        <a:t>Mehta et al. (2022)</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0" indent="0">
                        <a:buNone/>
                      </a:pPr>
                      <a:r>
                        <a:rPr lang="en-US" sz="1100" dirty="0">
                          <a:latin typeface="Times New Roman"/>
                          <a:cs typeface="Times New Roman"/>
                        </a:rPr>
                        <a:t>RFID and IoT-Based Smart Library Automation System</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RFID tags and IoT sensors for automated check-in/check-out</a:t>
                      </a:r>
                    </a:p>
                    <a:p>
                      <a:pPr marL="171450" indent="-171450">
                        <a:buFont typeface="Arial"/>
                        <a:buChar char="•"/>
                      </a:pPr>
                      <a:r>
                        <a:rPr lang="en-US" sz="1100" dirty="0">
                          <a:latin typeface="Times New Roman"/>
                          <a:cs typeface="Times New Roman"/>
                        </a:rPr>
                        <a:t>Real-time shelf inventory tracking</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Reduces manual effort and improves book-tracking accuracy</a:t>
                      </a:r>
                    </a:p>
                    <a:p>
                      <a:pPr marL="171450" indent="-171450">
                        <a:buFont typeface="Arial"/>
                        <a:buChar char="•"/>
                      </a:pPr>
                      <a:r>
                        <a:rPr lang="en-US" sz="1100" dirty="0">
                          <a:latin typeface="Times New Roman"/>
                          <a:cs typeface="Times New Roman"/>
                        </a:rPr>
                        <a:t>Performs better than barcode-based systems</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High initial hardware cost</a:t>
                      </a:r>
                    </a:p>
                    <a:p>
                      <a:pPr marL="171450" indent="-171450">
                        <a:buFont typeface="Arial"/>
                        <a:buChar char="•"/>
                      </a:pPr>
                      <a:r>
                        <a:rPr lang="en-US" sz="1100" dirty="0">
                          <a:latin typeface="Times New Roman"/>
                          <a:cs typeface="Times New Roman"/>
                        </a:rPr>
                        <a:t>Does not address personalised recommendations</a:t>
                      </a:r>
                    </a:p>
                  </a:txBody>
                  <a:tcP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2"/>
                  </a:ext>
                </a:extLst>
              </a:tr>
              <a:tr h="880000">
                <a:tc>
                  <a:txBody>
                    <a:bodyPr/>
                    <a:lstStyle/>
                    <a:p>
                      <a:pPr marL="0" indent="0">
                        <a:buNone/>
                      </a:pPr>
                      <a:r>
                        <a:rPr lang="en-US" sz="1100" dirty="0">
                          <a:latin typeface="Times New Roman"/>
                          <a:cs typeface="Times New Roman"/>
                        </a:rPr>
                        <a:t>Iyer et al. (2022)</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0" indent="0">
                        <a:buNone/>
                      </a:pPr>
                      <a:r>
                        <a:rPr lang="en-US" sz="1100" dirty="0">
                          <a:latin typeface="Times New Roman"/>
                          <a:cs typeface="Times New Roman"/>
                        </a:rPr>
                        <a:t>Personalized Book Recommendation Using Collaborative Filtering and Reading History</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Matrix factorization on the user-book interaction matrix</a:t>
                      </a:r>
                    </a:p>
                    <a:p>
                      <a:pPr marL="171450" indent="-171450">
                        <a:buFont typeface="Arial"/>
                        <a:buChar char="•"/>
                      </a:pPr>
                      <a:r>
                        <a:rPr lang="en-US" sz="1100" dirty="0">
                          <a:latin typeface="Times New Roman"/>
                          <a:cs typeface="Times New Roman"/>
                        </a:rPr>
                        <a:t>Models reading preferences from historical borrowing data</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Achieves better precision in suggesting books matching user interest</a:t>
                      </a:r>
                    </a:p>
                    <a:p>
                      <a:pPr marL="171450" indent="-171450">
                        <a:buFont typeface="Arial"/>
                        <a:buChar char="•"/>
                      </a:pPr>
                      <a:r>
                        <a:rPr lang="en-US" sz="1100" dirty="0">
                          <a:latin typeface="Times New Roman"/>
                          <a:cs typeface="Times New Roman"/>
                        </a:rPr>
                        <a:t>Outperforms popularity-based ranking</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Performance degrades with sparse interaction data</a:t>
                      </a:r>
                    </a:p>
                    <a:p>
                      <a:pPr marL="171450" indent="-171450">
                        <a:buFont typeface="Arial"/>
                        <a:buChar char="•"/>
                      </a:pPr>
                      <a:r>
                        <a:rPr lang="en-US" sz="1100" dirty="0">
                          <a:latin typeface="Times New Roman"/>
                          <a:cs typeface="Times New Roman"/>
                        </a:rPr>
                        <a:t>Model needs periodic retraining</a:t>
                      </a:r>
                    </a:p>
                  </a:txBody>
                  <a:tcP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3"/>
                  </a:ext>
                </a:extLst>
              </a:tr>
              <a:tr h="880000">
                <a:tc>
                  <a:txBody>
                    <a:bodyPr/>
                    <a:lstStyle/>
                    <a:p>
                      <a:pPr marL="0" indent="0">
                        <a:buNone/>
                      </a:pPr>
                      <a:r>
                        <a:rPr lang="en-US" sz="1100" dirty="0">
                          <a:latin typeface="Times New Roman"/>
                          <a:cs typeface="Times New Roman"/>
                        </a:rPr>
                        <a:t>Fernandes et al. (2023)</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0" indent="0">
                        <a:buNone/>
                      </a:pPr>
                      <a:r>
                        <a:rPr lang="en-US" sz="1100" dirty="0">
                          <a:latin typeface="Times New Roman"/>
                          <a:cs typeface="Times New Roman"/>
                        </a:rPr>
                        <a:t>Cloud-Based Library Management System with Automated Notifications</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Centralized cloud database for book, user, and transaction records</a:t>
                      </a:r>
                    </a:p>
                    <a:p>
                      <a:pPr marL="171450" indent="-171450">
                        <a:buFont typeface="Arial"/>
                        <a:buChar char="•"/>
                      </a:pPr>
                      <a:r>
                        <a:rPr lang="en-US" sz="1100" dirty="0">
                          <a:latin typeface="Times New Roman"/>
                          <a:cs typeface="Times New Roman"/>
                        </a:rPr>
                        <a:t>Automated email/SMS reminders for due dates</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Centralisation reduced record-keeping errors and duplicate entries</a:t>
                      </a:r>
                    </a:p>
                    <a:p>
                      <a:pPr marL="171450" indent="-171450">
                        <a:buFont typeface="Arial"/>
                        <a:buChar char="•"/>
                      </a:pPr>
                      <a:r>
                        <a:rPr lang="en-US" sz="1100" dirty="0">
                          <a:latin typeface="Times New Roman"/>
                          <a:cs typeface="Times New Roman"/>
                        </a:rPr>
                        <a:t>Automated reminders lowered overdue book rates</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No AI-based personalization included</a:t>
                      </a:r>
                    </a:p>
                    <a:p>
                      <a:pPr marL="171450" indent="-171450">
                        <a:buFont typeface="Arial"/>
                        <a:buChar char="•"/>
                      </a:pPr>
                      <a:r>
                        <a:rPr lang="en-US" sz="1100" dirty="0">
                          <a:latin typeface="Times New Roman"/>
                          <a:cs typeface="Times New Roman"/>
                        </a:rPr>
                        <a:t>Focus limited to core CRUD operations, not intelligent features</a:t>
                      </a:r>
                    </a:p>
                  </a:txBody>
                  <a:tcP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4"/>
                  </a:ext>
                </a:extLst>
              </a:tr>
              <a:tr h="880000">
                <a:tc>
                  <a:txBody>
                    <a:bodyPr/>
                    <a:lstStyle/>
                    <a:p>
                      <a:pPr marL="0" indent="0">
                        <a:buNone/>
                      </a:pPr>
                      <a:r>
                        <a:rPr lang="en-US" sz="1100" dirty="0">
                          <a:latin typeface="Times New Roman"/>
                          <a:cs typeface="Times New Roman"/>
                        </a:rPr>
                        <a:t>Nair &amp; Bose (2024)</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0" indent="0">
                        <a:buNone/>
                      </a:pPr>
                      <a:r>
                        <a:rPr lang="en-US" sz="1100" dirty="0">
                          <a:latin typeface="Times New Roman"/>
                          <a:cs typeface="Times New Roman"/>
                        </a:rPr>
                        <a:t>Content-Based Book Recommendation Using Natural Language Processing</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NLP techniques applied to book descriptions and reviews</a:t>
                      </a:r>
                    </a:p>
                    <a:p>
                      <a:pPr marL="171450" indent="-171450">
                        <a:buFont typeface="Arial"/>
                        <a:buChar char="•"/>
                      </a:pPr>
                      <a:r>
                        <a:rPr lang="en-US" sz="1100" dirty="0">
                          <a:latin typeface="Times New Roman"/>
                          <a:cs typeface="Times New Roman"/>
                        </a:rPr>
                        <a:t>TF-IDF and cosine similarity for content matching</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Worked well even for new users with no rental history</a:t>
                      </a:r>
                    </a:p>
                    <a:p>
                      <a:pPr marL="171450" indent="-171450">
                        <a:buFont typeface="Arial"/>
                        <a:buChar char="•"/>
                      </a:pPr>
                      <a:r>
                        <a:rPr lang="en-US" sz="1100" dirty="0">
                          <a:latin typeface="Times New Roman"/>
                          <a:cs typeface="Times New Roman"/>
                        </a:rPr>
                        <a:t>Improved relevance when combined with genre metadata</a:t>
                      </a:r>
                    </a:p>
                  </a:txBody>
                  <a:tcPr>
                    <a:lnL w="6350">
                      <a:solidFill>
                        <a:srgbClr val="BFBFBF"/>
                      </a:solidFill>
                    </a:lnL>
                    <a:lnR w="6350">
                      <a:solidFill>
                        <a:srgbClr val="BFBFBF"/>
                      </a:solidFill>
                    </a:lnR>
                    <a:lnT w="6350">
                      <a:solidFill>
                        <a:srgbClr val="BFBFBF"/>
                      </a:solidFill>
                    </a:lnT>
                    <a:lnB w="6350">
                      <a:solidFill>
                        <a:srgbClr val="BFBFBF"/>
                      </a:solidFill>
                    </a:lnB>
                  </a:tcPr>
                </a:tc>
                <a:tc>
                  <a:txBody>
                    <a:bodyPr/>
                    <a:lstStyle/>
                    <a:p>
                      <a:pPr marL="171450" indent="-171450">
                        <a:buFont typeface="Arial"/>
                        <a:buChar char="•"/>
                      </a:pPr>
                      <a:r>
                        <a:rPr lang="en-US" sz="1100" dirty="0">
                          <a:latin typeface="Times New Roman"/>
                          <a:cs typeface="Times New Roman"/>
                        </a:rPr>
                        <a:t>Does not leverage collaborative signals from other users</a:t>
                      </a:r>
                    </a:p>
                    <a:p>
                      <a:pPr marL="171450" indent="-171450">
                        <a:buFont typeface="Arial"/>
                        <a:buChar char="•"/>
                      </a:pPr>
                      <a:r>
                        <a:rPr lang="en-US" sz="1100" dirty="0">
                          <a:latin typeface="Times New Roman"/>
                          <a:cs typeface="Times New Roman"/>
                        </a:rPr>
                        <a:t>Limited to textual metadata quality and availability</a:t>
                      </a:r>
                    </a:p>
                  </a:txBody>
                  <a:tcPr>
                    <a:lnL w="6350">
                      <a:solidFill>
                        <a:srgbClr val="BFBFBF"/>
                      </a:solidFill>
                    </a:lnL>
                    <a:lnR w="6350">
                      <a:solidFill>
                        <a:srgbClr val="BFBFBF"/>
                      </a:solidFill>
                    </a:lnR>
                    <a:lnT w="6350">
                      <a:solidFill>
                        <a:srgbClr val="BFBFBF"/>
                      </a:solidFill>
                    </a:lnT>
                    <a:lnB w="6350">
                      <a:solidFill>
                        <a:srgbClr val="BFBFBF"/>
                      </a:solidFill>
                    </a:lnB>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Methodology</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103" name="List 103"/>
          <p:cNvSpPr txBox="1"/>
          <p:nvPr/>
        </p:nvSpPr>
        <p:spPr>
          <a:xfrm>
            <a:off x="800000" y="1450000"/>
            <a:ext cx="5250000" cy="4900000"/>
          </a:xfrm>
          <a:prstGeom prst="rect">
            <a:avLst/>
          </a:prstGeom>
          <a:noFill/>
        </p:spPr>
        <p:txBody>
          <a:bodyPr wrap="square" anchor="t">
            <a:normAutofit/>
          </a:bodyPr>
          <a:lstStyle/>
          <a:p>
            <a:pPr marL="0" indent="0">
              <a:spcBef>
                <a:spcPts val="400"/>
              </a:spcBef>
              <a:spcAft>
                <a:spcPts val="200"/>
              </a:spcAft>
              <a:buNone/>
            </a:pPr>
            <a:r>
              <a:rPr lang="en-US" sz="1500" b="1" dirty="0">
                <a:solidFill>
                  <a:srgbClr val="0070C0"/>
                </a:solidFill>
                <a:latin typeface="Times New Roman"/>
                <a:cs typeface="Times New Roman"/>
              </a:rPr>
              <a:t>1. Requirements Analysis &amp; Data Collection</a:t>
            </a:r>
          </a:p>
          <a:p>
            <a:pPr marL="342900" indent="0">
              <a:spcAft>
                <a:spcPts val="500"/>
              </a:spcAft>
              <a:buNone/>
            </a:pPr>
            <a:r>
              <a:rPr lang="en-US" sz="1600" dirty="0">
                <a:solidFill>
                  <a:srgbClr val="404040"/>
                </a:solidFill>
                <a:latin typeface="Times New Roman"/>
                <a:cs typeface="Times New Roman"/>
              </a:rPr>
              <a:t>Study existing library workflows and gather book records, student profiles, and historical borrowing data.</a:t>
            </a:r>
          </a:p>
          <a:p>
            <a:pPr marL="0" indent="0">
              <a:spcBef>
                <a:spcPts val="400"/>
              </a:spcBef>
              <a:spcAft>
                <a:spcPts val="200"/>
              </a:spcAft>
              <a:buNone/>
            </a:pPr>
            <a:r>
              <a:rPr lang="en-US" sz="1500" b="1" dirty="0">
                <a:solidFill>
                  <a:srgbClr val="0070C0"/>
                </a:solidFill>
                <a:latin typeface="Times New Roman"/>
                <a:cs typeface="Times New Roman"/>
              </a:rPr>
              <a:t>2. System Design</a:t>
            </a:r>
          </a:p>
          <a:p>
            <a:pPr marL="342900" indent="0">
              <a:spcAft>
                <a:spcPts val="500"/>
              </a:spcAft>
              <a:buNone/>
            </a:pPr>
            <a:r>
              <a:rPr lang="en-US" sz="1600" dirty="0">
                <a:solidFill>
                  <a:srgbClr val="404040"/>
                </a:solidFill>
                <a:latin typeface="Times New Roman"/>
                <a:cs typeface="Times New Roman"/>
              </a:rPr>
              <a:t>Design the database schema and a modular architecture covering Book Management, User Management, Transactions, and the Recommendation Engine.</a:t>
            </a:r>
          </a:p>
          <a:p>
            <a:pPr marL="0" indent="0">
              <a:spcBef>
                <a:spcPts val="400"/>
              </a:spcBef>
              <a:spcAft>
                <a:spcPts val="200"/>
              </a:spcAft>
              <a:buNone/>
            </a:pPr>
            <a:r>
              <a:rPr lang="en-US" sz="1500" b="1" dirty="0">
                <a:solidFill>
                  <a:srgbClr val="0070C0"/>
                </a:solidFill>
                <a:latin typeface="Times New Roman"/>
                <a:cs typeface="Times New Roman"/>
              </a:rPr>
              <a:t>3. Development</a:t>
            </a:r>
          </a:p>
          <a:p>
            <a:pPr marL="342900" indent="0">
              <a:spcAft>
                <a:spcPts val="500"/>
              </a:spcAft>
              <a:buNone/>
            </a:pPr>
            <a:r>
              <a:rPr lang="en-US" sz="1600" dirty="0">
                <a:solidFill>
                  <a:srgbClr val="404040"/>
                </a:solidFill>
                <a:latin typeface="Times New Roman"/>
                <a:cs typeface="Times New Roman"/>
              </a:rPr>
              <a:t>Build the front-end and back-end modules and expose APIs for search, borrowing, returns, and due-date notifications.</a:t>
            </a:r>
          </a:p>
          <a:p>
            <a:pPr marL="0" indent="0">
              <a:spcBef>
                <a:spcPts val="400"/>
              </a:spcBef>
              <a:spcAft>
                <a:spcPts val="200"/>
              </a:spcAft>
              <a:buNone/>
            </a:pPr>
            <a:r>
              <a:rPr lang="en-US" sz="1500" b="1" dirty="0">
                <a:solidFill>
                  <a:srgbClr val="0070C0"/>
                </a:solidFill>
                <a:latin typeface="Times New Roman"/>
                <a:cs typeface="Times New Roman"/>
              </a:rPr>
              <a:t>4. Data Preprocessing</a:t>
            </a:r>
          </a:p>
          <a:p>
            <a:pPr marL="342900" indent="0">
              <a:spcAft>
                <a:spcPts val="500"/>
              </a:spcAft>
              <a:buNone/>
            </a:pPr>
            <a:r>
              <a:rPr lang="en-US" sz="1600" dirty="0">
                <a:solidFill>
                  <a:srgbClr val="404040"/>
                </a:solidFill>
                <a:latin typeface="Times New Roman"/>
                <a:cs typeface="Times New Roman"/>
              </a:rPr>
              <a:t>Clean and structure borrowing history, genre, and interest data to prepare it for model training.</a:t>
            </a:r>
          </a:p>
        </p:txBody>
      </p:sp>
      <p:sp>
        <p:nvSpPr>
          <p:cNvPr id="104" name="List 104"/>
          <p:cNvSpPr txBox="1"/>
          <p:nvPr/>
        </p:nvSpPr>
        <p:spPr>
          <a:xfrm>
            <a:off x="6250000" y="1450000"/>
            <a:ext cx="5250000" cy="4900000"/>
          </a:xfrm>
          <a:prstGeom prst="rect">
            <a:avLst/>
          </a:prstGeom>
          <a:noFill/>
        </p:spPr>
        <p:txBody>
          <a:bodyPr wrap="square" anchor="t">
            <a:normAutofit/>
          </a:bodyPr>
          <a:lstStyle/>
          <a:p>
            <a:pPr marL="0" indent="0">
              <a:spcBef>
                <a:spcPts val="400"/>
              </a:spcBef>
              <a:spcAft>
                <a:spcPts val="200"/>
              </a:spcAft>
              <a:buNone/>
            </a:pPr>
            <a:r>
              <a:rPr lang="en-US" sz="1500" b="1" dirty="0">
                <a:solidFill>
                  <a:srgbClr val="0070C0"/>
                </a:solidFill>
                <a:latin typeface="Times New Roman"/>
                <a:cs typeface="Times New Roman"/>
              </a:rPr>
              <a:t>5. Recommendation Model Building</a:t>
            </a:r>
          </a:p>
          <a:p>
            <a:pPr marL="342900" indent="0">
              <a:spcAft>
                <a:spcPts val="500"/>
              </a:spcAft>
              <a:buNone/>
            </a:pPr>
            <a:r>
              <a:rPr lang="en-US" sz="1600" dirty="0">
                <a:solidFill>
                  <a:srgbClr val="404040"/>
                </a:solidFill>
                <a:latin typeface="Times New Roman"/>
                <a:cs typeface="Times New Roman"/>
              </a:rPr>
              <a:t>Apply machine learning techniques such as collaborative filtering, content-based filtering, or a hybrid approach to identify borrowing patterns and generate personalised suggestions.</a:t>
            </a:r>
          </a:p>
          <a:p>
            <a:pPr marL="0" indent="0">
              <a:spcBef>
                <a:spcPts val="400"/>
              </a:spcBef>
              <a:spcAft>
                <a:spcPts val="200"/>
              </a:spcAft>
              <a:buNone/>
            </a:pPr>
            <a:r>
              <a:rPr lang="en-US" sz="1500" b="1" dirty="0">
                <a:solidFill>
                  <a:srgbClr val="0070C0"/>
                </a:solidFill>
                <a:latin typeface="Times New Roman"/>
                <a:cs typeface="Times New Roman"/>
              </a:rPr>
              <a:t>6. Testing &amp; Validation</a:t>
            </a:r>
          </a:p>
          <a:p>
            <a:pPr marL="342900" indent="0">
              <a:spcAft>
                <a:spcPts val="500"/>
              </a:spcAft>
              <a:buNone/>
            </a:pPr>
            <a:r>
              <a:rPr lang="en-US" sz="1600" dirty="0">
                <a:solidFill>
                  <a:srgbClr val="404040"/>
                </a:solidFill>
                <a:latin typeface="Times New Roman"/>
                <a:cs typeface="Times New Roman"/>
              </a:rPr>
              <a:t>Test all functional modules and evaluate recommendation quality using metrics such as precision, recall, and user satisfaction.</a:t>
            </a:r>
          </a:p>
          <a:p>
            <a:pPr marL="0" indent="0">
              <a:spcBef>
                <a:spcPts val="400"/>
              </a:spcBef>
              <a:spcAft>
                <a:spcPts val="200"/>
              </a:spcAft>
              <a:buNone/>
            </a:pPr>
            <a:r>
              <a:rPr lang="en-US" sz="1500" b="1" dirty="0">
                <a:solidFill>
                  <a:srgbClr val="0070C0"/>
                </a:solidFill>
                <a:latin typeface="Times New Roman"/>
                <a:cs typeface="Times New Roman"/>
              </a:rPr>
              <a:t>7. Deployment &amp; Feedback Integration</a:t>
            </a:r>
          </a:p>
          <a:p>
            <a:pPr marL="342900" indent="0">
              <a:spcAft>
                <a:spcPts val="500"/>
              </a:spcAft>
              <a:buNone/>
            </a:pPr>
            <a:r>
              <a:rPr lang="en-US" sz="1600" dirty="0">
                <a:solidFill>
                  <a:srgbClr val="404040"/>
                </a:solidFill>
                <a:latin typeface="Times New Roman"/>
                <a:cs typeface="Times New Roman"/>
              </a:rPr>
              <a:t>Deploy the system and continuously refine recommendations based on user feedback and usage patterns.</a:t>
            </a:r>
          </a:p>
        </p:txBody>
      </p:sp>
    </p:spTree>
    <p:extLst>
      <p:ext uri="{BB962C8B-B14F-4D97-AF65-F5344CB8AC3E}">
        <p14:creationId xmlns:p14="http://schemas.microsoft.com/office/powerpoint/2010/main" val="3917782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609600" y="600078"/>
            <a:ext cx="109728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3"/>
          <a:stretch>
            <a:fillRect/>
          </a:stretch>
        </p:blipFill>
        <p:spPr>
          <a:xfrm>
            <a:off x="10249380" y="0"/>
            <a:ext cx="1942620" cy="622550"/>
          </a:xfrm>
          <a:prstGeom prst="rect">
            <a:avLst/>
          </a:prstGeom>
        </p:spPr>
      </p:pic>
      <p:sp>
        <p:nvSpPr>
          <p:cNvPr id="105" name="Card 105"/>
          <p:cNvSpPr/>
          <p:nvPr/>
        </p:nvSpPr>
        <p:spPr>
          <a:xfrm>
            <a:off x="609600" y="1600000"/>
            <a:ext cx="5336400" cy="4400000"/>
          </a:xfrm>
          <a:prstGeom prst="roundRect">
            <a:avLst>
              <a:gd name="adj" fmla="val 4000"/>
            </a:avLst>
          </a:prstGeom>
          <a:solidFill>
            <a:srgbClr val="F2F7FC"/>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Gaps in Existing Systems</a:t>
            </a:r>
          </a:p>
          <a:p>
            <a:pPr marL="228600" indent="-228600">
              <a:spcAft>
                <a:spcPts val="600"/>
              </a:spcAft>
              <a:buFont typeface="Arial"/>
              <a:buChar char="•"/>
            </a:pPr>
            <a:r>
              <a:rPr lang="en-US" sz="1600" b="0" dirty="0">
                <a:solidFill>
                  <a:srgbClr val="404040"/>
                </a:solidFill>
                <a:latin typeface="Times New Roman"/>
                <a:cs typeface="Times New Roman"/>
              </a:rPr>
              <a:t>Most systems automate cataloguing and circulation but stop short of any intelligent personalisation for the user</a:t>
            </a:r>
          </a:p>
          <a:p>
            <a:pPr marL="228600" indent="-228600">
              <a:spcAft>
                <a:spcPts val="600"/>
              </a:spcAft>
              <a:buFont typeface="Arial"/>
              <a:buChar char="•"/>
            </a:pPr>
            <a:r>
              <a:rPr lang="en-US" sz="1600" b="0" dirty="0">
                <a:solidFill>
                  <a:srgbClr val="404040"/>
                </a:solidFill>
                <a:latin typeface="Times New Roman"/>
                <a:cs typeface="Times New Roman"/>
              </a:rPr>
              <a:t>Book recommendations, where available, are usually generic (e.g. "new arrivals") rather than tailored to reading history</a:t>
            </a:r>
          </a:p>
          <a:p>
            <a:pPr marL="228600" indent="-228600">
              <a:spcAft>
                <a:spcPts val="600"/>
              </a:spcAft>
              <a:buFont typeface="Arial"/>
              <a:buChar char="•"/>
            </a:pPr>
            <a:r>
              <a:rPr lang="en-US" sz="1600" b="0" dirty="0">
                <a:solidFill>
                  <a:srgbClr val="404040"/>
                </a:solidFill>
                <a:latin typeface="Times New Roman"/>
                <a:cs typeface="Times New Roman"/>
              </a:rPr>
              <a:t>Borrowing data is rarely analysed to understand demand patterns, popular categories, or future acquisition needs</a:t>
            </a:r>
          </a:p>
          <a:p>
            <a:pPr marL="228600" indent="-228600">
              <a:spcAft>
                <a:spcPts val="600"/>
              </a:spcAft>
              <a:buFont typeface="Arial"/>
              <a:buChar char="•"/>
            </a:pPr>
            <a:r>
              <a:rPr lang="en-US" sz="1600" b="0" dirty="0">
                <a:solidFill>
                  <a:srgbClr val="404040"/>
                </a:solidFill>
                <a:latin typeface="Times New Roman"/>
                <a:cs typeface="Times New Roman"/>
              </a:rPr>
              <a:t>Notification and due-date tracking are often missing or disconnected from the core management system</a:t>
            </a:r>
          </a:p>
        </p:txBody>
      </p:sp>
      <p:sp>
        <p:nvSpPr>
          <p:cNvPr id="106" name="Card 106"/>
          <p:cNvSpPr/>
          <p:nvPr/>
        </p:nvSpPr>
        <p:spPr>
          <a:xfrm>
            <a:off x="6246000" y="1600000"/>
            <a:ext cx="5336400" cy="4400000"/>
          </a:xfrm>
          <a:prstGeom prst="roundRect">
            <a:avLst>
              <a:gd name="adj" fmla="val 4000"/>
            </a:avLst>
          </a:prstGeom>
          <a:solidFill>
            <a:srgbClr val="EAF3FF"/>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How the Proposed System Addresses These Gaps</a:t>
            </a:r>
          </a:p>
          <a:p>
            <a:pPr marL="228600" indent="-228600">
              <a:spcAft>
                <a:spcPts val="600"/>
              </a:spcAft>
              <a:buFont typeface="Arial"/>
              <a:buChar char="•"/>
            </a:pPr>
            <a:r>
              <a:rPr lang="en-US" sz="1600" b="0" dirty="0">
                <a:solidFill>
                  <a:srgbClr val="404040"/>
                </a:solidFill>
                <a:latin typeface="Times New Roman"/>
                <a:cs typeface="Times New Roman"/>
              </a:rPr>
              <a:t>A single AI-driven platform combines library management with personalised recommendations</a:t>
            </a:r>
          </a:p>
          <a:p>
            <a:pPr marL="228600" indent="-228600">
              <a:spcAft>
                <a:spcPts val="600"/>
              </a:spcAft>
              <a:buFont typeface="Arial"/>
              <a:buChar char="•"/>
            </a:pPr>
            <a:r>
              <a:rPr lang="en-US" sz="1600" b="0" dirty="0">
                <a:solidFill>
                  <a:srgbClr val="404040"/>
                </a:solidFill>
                <a:latin typeface="Times New Roman"/>
                <a:cs typeface="Times New Roman"/>
              </a:rPr>
              <a:t>The recommendation module continuously learns from borrowing history, interests, and preferred genres</a:t>
            </a:r>
          </a:p>
          <a:p>
            <a:pPr marL="228600" indent="-228600">
              <a:spcAft>
                <a:spcPts val="600"/>
              </a:spcAft>
              <a:buFont typeface="Arial"/>
              <a:buChar char="•"/>
            </a:pPr>
            <a:r>
              <a:rPr lang="en-US" sz="1600" b="0" dirty="0">
                <a:solidFill>
                  <a:srgbClr val="404040"/>
                </a:solidFill>
                <a:latin typeface="Times New Roman"/>
                <a:cs typeface="Times New Roman"/>
              </a:rPr>
              <a:t>Borrowing and transaction data is analysed to surface demand trends and guide future book acquisitions</a:t>
            </a:r>
          </a:p>
          <a:p>
            <a:pPr marL="228600" indent="-228600">
              <a:spcAft>
                <a:spcPts val="600"/>
              </a:spcAft>
              <a:buFont typeface="Arial"/>
              <a:buChar char="•"/>
            </a:pPr>
            <a:r>
              <a:rPr lang="en-US" sz="1600" b="0" dirty="0">
                <a:solidFill>
                  <a:srgbClr val="404040"/>
                </a:solidFill>
                <a:latin typeface="Times New Roman"/>
                <a:cs typeface="Times New Roman"/>
              </a:rPr>
              <a:t>Integrated due-date tracking sends timely return notifications directly to students</a:t>
            </a:r>
          </a:p>
        </p:txBody>
      </p:sp>
    </p:spTree>
    <p:extLst>
      <p:ext uri="{BB962C8B-B14F-4D97-AF65-F5344CB8AC3E}">
        <p14:creationId xmlns:p14="http://schemas.microsoft.com/office/powerpoint/2010/main" val="206587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609600" y="600078"/>
            <a:ext cx="10972800" cy="646331"/>
          </a:xfrm>
          <a:prstGeom prst="rect">
            <a:avLst/>
          </a:prstGeom>
          <a:noFill/>
        </p:spPr>
        <p:txBody>
          <a:bodyPr wrap="square">
            <a:spAutoFit/>
          </a:bodyPr>
          <a:lstStyle/>
          <a:p>
            <a:pPr algn="ctr"/>
            <a:r>
              <a:rPr lang="en-US" sz="3600" b="1" dirty="0"/>
              <a:t>Technology Used</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105" name="Card 105"/>
          <p:cNvSpPr/>
          <p:nvPr/>
        </p:nvSpPr>
        <p:spPr>
          <a:xfrm>
            <a:off x="609600" y="1600000"/>
            <a:ext cx="5336400" cy="4400000"/>
          </a:xfrm>
          <a:prstGeom prst="roundRect">
            <a:avLst>
              <a:gd name="adj" fmla="val 4000"/>
            </a:avLst>
          </a:prstGeom>
          <a:solidFill>
            <a:srgbClr val="F2F7FC"/>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Languages &amp; Frameworks</a:t>
            </a:r>
          </a:p>
          <a:p>
            <a:pPr marL="228600" indent="-228600">
              <a:spcAft>
                <a:spcPts val="600"/>
              </a:spcAft>
              <a:buFont typeface="Arial"/>
              <a:buChar char="•"/>
            </a:pPr>
            <a:r>
              <a:rPr lang="en-US" sz="1600" b="0" dirty="0">
                <a:solidFill>
                  <a:srgbClr val="404040"/>
                </a:solidFill>
                <a:latin typeface="Times New Roman"/>
                <a:cs typeface="Times New Roman"/>
              </a:rPr>
              <a:t>Java / Python for backend logic and the recommendation engine</a:t>
            </a:r>
          </a:p>
          <a:p>
            <a:pPr marL="228600" indent="-228600">
              <a:spcAft>
                <a:spcPts val="600"/>
              </a:spcAft>
              <a:buFont typeface="Arial"/>
              <a:buChar char="•"/>
            </a:pPr>
            <a:r>
              <a:rPr lang="en-US" sz="1600" b="0" dirty="0">
                <a:solidFill>
                  <a:srgbClr val="404040"/>
                </a:solidFill>
                <a:latin typeface="Times New Roman"/>
                <a:cs typeface="Times New Roman"/>
              </a:rPr>
              <a:t>Spring Boot / Django for building REST APIs and core services</a:t>
            </a:r>
          </a:p>
          <a:p>
            <a:pPr marL="228600" indent="-228600">
              <a:spcAft>
                <a:spcPts val="600"/>
              </a:spcAft>
              <a:buFont typeface="Arial"/>
              <a:buChar char="•"/>
            </a:pPr>
            <a:r>
              <a:rPr lang="en-US" sz="1600" b="0" dirty="0">
                <a:solidFill>
                  <a:srgbClr val="404040"/>
                </a:solidFill>
                <a:latin typeface="Times New Roman"/>
                <a:cs typeface="Times New Roman"/>
              </a:rPr>
              <a:t>HTML, CSS, JavaScript / React for the front-end interface</a:t>
            </a:r>
          </a:p>
          <a:p>
            <a:pPr marL="228600" indent="-228600">
              <a:spcAft>
                <a:spcPts val="600"/>
              </a:spcAft>
              <a:buFont typeface="Arial"/>
              <a:buChar char="•"/>
            </a:pPr>
            <a:r>
              <a:rPr lang="en-US" sz="1600" b="0" dirty="0">
                <a:solidFill>
                  <a:srgbClr val="404040"/>
                </a:solidFill>
                <a:latin typeface="Times New Roman"/>
                <a:cs typeface="Times New Roman"/>
              </a:rPr>
              <a:t>Scikit-learn / Pandas for building the recommendation model</a:t>
            </a:r>
          </a:p>
        </p:txBody>
      </p:sp>
      <p:sp>
        <p:nvSpPr>
          <p:cNvPr id="106" name="Card 106"/>
          <p:cNvSpPr/>
          <p:nvPr/>
        </p:nvSpPr>
        <p:spPr>
          <a:xfrm>
            <a:off x="6246000" y="1600000"/>
            <a:ext cx="5336400" cy="4400000"/>
          </a:xfrm>
          <a:prstGeom prst="roundRect">
            <a:avLst>
              <a:gd name="adj" fmla="val 4000"/>
            </a:avLst>
          </a:prstGeom>
          <a:solidFill>
            <a:srgbClr val="EAF3FF"/>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Tools, Database &amp; Platforms</a:t>
            </a:r>
          </a:p>
          <a:p>
            <a:pPr marL="228600" indent="-228600">
              <a:spcAft>
                <a:spcPts val="600"/>
              </a:spcAft>
              <a:buFont typeface="Arial"/>
              <a:buChar char="•"/>
            </a:pPr>
            <a:r>
              <a:rPr lang="en-US" sz="1600" b="0" dirty="0">
                <a:solidFill>
                  <a:srgbClr val="404040"/>
                </a:solidFill>
                <a:latin typeface="Times New Roman"/>
                <a:cs typeface="Times New Roman"/>
              </a:rPr>
              <a:t>MySQL / PostgreSQL for storing book, user, and transaction records</a:t>
            </a:r>
          </a:p>
          <a:p>
            <a:pPr marL="228600" indent="-228600">
              <a:spcAft>
                <a:spcPts val="600"/>
              </a:spcAft>
              <a:buFont typeface="Arial"/>
              <a:buChar char="•"/>
            </a:pPr>
            <a:r>
              <a:rPr lang="en-US" sz="1600" b="0" dirty="0">
                <a:solidFill>
                  <a:srgbClr val="404040"/>
                </a:solidFill>
                <a:latin typeface="Times New Roman"/>
                <a:cs typeface="Times New Roman"/>
              </a:rPr>
              <a:t>REST APIs for communication between the front-end, back-end, and recommendation engine</a:t>
            </a:r>
          </a:p>
          <a:p>
            <a:pPr marL="228600" indent="-228600">
              <a:spcAft>
                <a:spcPts val="600"/>
              </a:spcAft>
              <a:buFont typeface="Arial"/>
              <a:buChar char="•"/>
            </a:pPr>
            <a:r>
              <a:rPr lang="en-US" sz="1600" b="0" dirty="0">
                <a:solidFill>
                  <a:srgbClr val="404040"/>
                </a:solidFill>
                <a:latin typeface="Times New Roman"/>
                <a:cs typeface="Times New Roman"/>
              </a:rPr>
              <a:t>Git / GitHub for version control and collaboration</a:t>
            </a:r>
          </a:p>
          <a:p>
            <a:pPr marL="228600" indent="-228600">
              <a:spcAft>
                <a:spcPts val="600"/>
              </a:spcAft>
              <a:buFont typeface="Arial"/>
              <a:buChar char="•"/>
            </a:pPr>
            <a:r>
              <a:rPr lang="en-US" sz="1600" b="0" dirty="0">
                <a:solidFill>
                  <a:srgbClr val="404040"/>
                </a:solidFill>
                <a:latin typeface="Times New Roman"/>
                <a:cs typeface="Times New Roman"/>
              </a:rPr>
              <a:t>VS Code / Postman for development and API testing</a:t>
            </a:r>
          </a:p>
        </p:txBody>
      </p:sp>
    </p:spTree>
    <p:extLst>
      <p:ext uri="{BB962C8B-B14F-4D97-AF65-F5344CB8AC3E}">
        <p14:creationId xmlns:p14="http://schemas.microsoft.com/office/powerpoint/2010/main" val="2065876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609600" y="551058"/>
            <a:ext cx="10972800" cy="707886"/>
          </a:xfrm>
          <a:prstGeom prst="rect">
            <a:avLst/>
          </a:prstGeom>
          <a:noFill/>
        </p:spPr>
        <p:txBody>
          <a:bodyPr wrap="square">
            <a:spAutoFit/>
          </a:bodyPr>
          <a:lstStyle/>
          <a:p>
            <a:pPr algn="ctr"/>
            <a:r>
              <a:rPr lang="en-US" sz="4000" b="1" dirty="0"/>
              <a:t>Workflow</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3"/>
          <a:stretch>
            <a:fillRect/>
          </a:stretch>
        </p:blipFill>
        <p:spPr>
          <a:xfrm>
            <a:off x="10249380" y="0"/>
            <a:ext cx="1942620" cy="622550"/>
          </a:xfrm>
          <a:prstGeom prst="rect">
            <a:avLst/>
          </a:prstGeom>
        </p:spPr>
      </p:pic>
      <p:sp>
        <p:nvSpPr>
          <p:cNvPr id="230" name="Workflow Intro"/>
          <p:cNvSpPr txBox="1"/>
          <p:nvPr/>
        </p:nvSpPr>
        <p:spPr>
          <a:xfrm>
            <a:off x="800000" y="1500000"/>
            <a:ext cx="10592000" cy="700000"/>
          </a:xfrm>
          <a:prstGeom prst="rect">
            <a:avLst/>
          </a:prstGeom>
          <a:noFill/>
        </p:spPr>
        <p:txBody>
          <a:bodyPr wrap="square" anchor="t">
            <a:normAutofit/>
          </a:bodyPr>
          <a:lstStyle/>
          <a:p>
            <a:pPr algn="ctr"/>
            <a:r>
              <a:rPr lang="en-US" sz="1800" b="0" dirty="0">
                <a:solidFill>
                  <a:srgbClr val="404040"/>
                </a:solidFill>
                <a:latin typeface="Times New Roman"/>
                <a:cs typeface="Times New Roman"/>
              </a:rPr>
              <a:t>A student or librarian action moves through the platform in five stages, ending with a personalised recommendation</a:t>
            </a:r>
          </a:p>
        </p:txBody>
      </p:sp>
      <p:sp>
        <p:nvSpPr>
          <p:cNvPr id="210" name="Timeline Label"/>
          <p:cNvSpPr txBox="1"/>
          <p:nvPr/>
        </p:nvSpPr>
        <p:spPr>
          <a:xfrm>
            <a:off x="800000" y="2750000"/>
            <a:ext cx="6000000" cy="400000"/>
          </a:xfrm>
          <a:prstGeom prst="rect">
            <a:avLst/>
          </a:prstGeom>
          <a:noFill/>
        </p:spPr>
        <p:txBody>
          <a:bodyPr wrap="square"/>
          <a:lstStyle/>
          <a:p>
            <a:r>
              <a:rPr lang="en-US" sz="1600" b="1" dirty="0">
                <a:solidFill>
                  <a:srgbClr val="0070C0"/>
                </a:solidFill>
                <a:latin typeface="Times New Roman"/>
                <a:cs typeface="Times New Roman"/>
              </a:rPr>
              <a:t>Process Flow</a:t>
            </a:r>
          </a:p>
        </p:txBody>
      </p:sp>
      <p:sp>
        <p:nvSpPr>
          <p:cNvPr id="211" name="Phase 211"/>
          <p:cNvSpPr/>
          <p:nvPr/>
        </p:nvSpPr>
        <p:spPr>
          <a:xfrm>
            <a:off x="700000" y="3000000"/>
            <a:ext cx="1750000" cy="1200000"/>
          </a:xfrm>
          <a:prstGeom prst="roundRect">
            <a:avLst>
              <a:gd name="adj" fmla="val 8000"/>
            </a:avLst>
          </a:prstGeom>
          <a:solidFill>
            <a:srgbClr val="0070C0"/>
          </a:solidFill>
          <a:ln>
            <a:noFill/>
          </a:ln>
        </p:spPr>
        <p:txBody>
          <a:bodyPr wrap="square" lIns="91440" tIns="45720" rIns="91440" bIns="45720" anchor="ctr">
            <a:normAutofit/>
          </a:bodyPr>
          <a:lstStyle/>
          <a:p>
            <a:pPr algn="ctr">
              <a:spcAft>
                <a:spcPts val="200"/>
              </a:spcAft>
            </a:pPr>
            <a:r>
              <a:rPr lang="en-US" sz="1300" b="1" dirty="0">
                <a:solidFill>
                  <a:srgbClr val="FFFFFF"/>
                </a:solidFill>
                <a:latin typeface="Times New Roman"/>
                <a:cs typeface="Times New Roman"/>
              </a:rPr>
              <a:t>Step 1</a:t>
            </a:r>
          </a:p>
          <a:p>
            <a:pPr algn="ctr">
              <a:buNone/>
            </a:pPr>
            <a:r>
              <a:rPr lang="en-US" sz="1000" dirty="0">
                <a:solidFill>
                  <a:srgbClr val="FFFFFF"/>
                </a:solidFill>
                <a:latin typeface="Times New Roman"/>
                <a:cs typeface="Times New Roman"/>
              </a:rPr>
              <a:t>Student/Librarian
Logs In</a:t>
            </a:r>
          </a:p>
        </p:txBody>
      </p:sp>
      <p:sp>
        <p:nvSpPr>
          <p:cNvPr id="212" name="Arrow 212"/>
          <p:cNvSpPr/>
          <p:nvPr/>
        </p:nvSpPr>
        <p:spPr>
          <a:xfrm>
            <a:off x="2555250" y="3450000"/>
            <a:ext cx="510500" cy="300000"/>
          </a:xfrm>
          <a:prstGeom prst="rightArrow">
            <a:avLst/>
          </a:prstGeom>
          <a:solidFill>
            <a:srgbClr val="0070C0"/>
          </a:solidFill>
          <a:ln>
            <a:noFill/>
          </a:ln>
        </p:spPr>
        <p:txBody>
          <a:bodyPr/>
          <a:lstStyle/>
          <a:p>
            <a:endParaRPr lang="en-US"/>
          </a:p>
        </p:txBody>
      </p:sp>
      <p:sp>
        <p:nvSpPr>
          <p:cNvPr id="213" name="Phase 213"/>
          <p:cNvSpPr/>
          <p:nvPr/>
        </p:nvSpPr>
        <p:spPr>
          <a:xfrm>
            <a:off x="2960500" y="3000000"/>
            <a:ext cx="1750000" cy="1200000"/>
          </a:xfrm>
          <a:prstGeom prst="roundRect">
            <a:avLst>
              <a:gd name="adj" fmla="val 8000"/>
            </a:avLst>
          </a:prstGeom>
          <a:solidFill>
            <a:srgbClr val="1F8FE0"/>
          </a:solidFill>
          <a:ln>
            <a:noFill/>
          </a:ln>
        </p:spPr>
        <p:txBody>
          <a:bodyPr wrap="square" lIns="91440" tIns="45720" rIns="91440" bIns="45720" anchor="ctr">
            <a:normAutofit/>
          </a:bodyPr>
          <a:lstStyle/>
          <a:p>
            <a:pPr algn="ctr">
              <a:spcAft>
                <a:spcPts val="200"/>
              </a:spcAft>
            </a:pPr>
            <a:r>
              <a:rPr lang="en-US" sz="1300" b="1" dirty="0">
                <a:solidFill>
                  <a:srgbClr val="FFFFFF"/>
                </a:solidFill>
                <a:latin typeface="Times New Roman"/>
                <a:cs typeface="Times New Roman"/>
              </a:rPr>
              <a:t>Step 2</a:t>
            </a:r>
          </a:p>
          <a:p>
            <a:pPr algn="ctr">
              <a:buNone/>
            </a:pPr>
            <a:r>
              <a:rPr lang="en-US" sz="1000" dirty="0">
                <a:solidFill>
                  <a:srgbClr val="FFFFFF"/>
                </a:solidFill>
                <a:latin typeface="Times New Roman"/>
                <a:cs typeface="Times New Roman"/>
              </a:rPr>
              <a:t>Search &amp; Browse
Book Catalogue</a:t>
            </a:r>
          </a:p>
        </p:txBody>
      </p:sp>
      <p:sp>
        <p:nvSpPr>
          <p:cNvPr id="214" name="Arrow 214"/>
          <p:cNvSpPr/>
          <p:nvPr/>
        </p:nvSpPr>
        <p:spPr>
          <a:xfrm>
            <a:off x="4815750" y="3450000"/>
            <a:ext cx="510500" cy="300000"/>
          </a:xfrm>
          <a:prstGeom prst="rightArrow">
            <a:avLst/>
          </a:prstGeom>
          <a:solidFill>
            <a:srgbClr val="0070C0"/>
          </a:solidFill>
          <a:ln>
            <a:noFill/>
          </a:ln>
        </p:spPr>
        <p:txBody>
          <a:bodyPr/>
          <a:lstStyle/>
          <a:p>
            <a:endParaRPr lang="en-US"/>
          </a:p>
        </p:txBody>
      </p:sp>
      <p:sp>
        <p:nvSpPr>
          <p:cNvPr id="215" name="Phase 215"/>
          <p:cNvSpPr/>
          <p:nvPr/>
        </p:nvSpPr>
        <p:spPr>
          <a:xfrm>
            <a:off x="5221000" y="3000000"/>
            <a:ext cx="1750000" cy="1200000"/>
          </a:xfrm>
          <a:prstGeom prst="roundRect">
            <a:avLst>
              <a:gd name="adj" fmla="val 8000"/>
            </a:avLst>
          </a:prstGeom>
          <a:solidFill>
            <a:srgbClr val="0070C0"/>
          </a:solidFill>
          <a:ln>
            <a:noFill/>
          </a:ln>
        </p:spPr>
        <p:txBody>
          <a:bodyPr wrap="square" lIns="91440" tIns="45720" rIns="91440" bIns="45720" anchor="ctr">
            <a:normAutofit/>
          </a:bodyPr>
          <a:lstStyle/>
          <a:p>
            <a:pPr algn="ctr">
              <a:spcAft>
                <a:spcPts val="200"/>
              </a:spcAft>
            </a:pPr>
            <a:r>
              <a:rPr lang="en-US" sz="1300" b="1" dirty="0">
                <a:solidFill>
                  <a:srgbClr val="FFFFFF"/>
                </a:solidFill>
                <a:latin typeface="Times New Roman"/>
                <a:cs typeface="Times New Roman"/>
              </a:rPr>
              <a:t>Step 3</a:t>
            </a:r>
          </a:p>
          <a:p>
            <a:pPr algn="ctr">
              <a:buNone/>
            </a:pPr>
            <a:r>
              <a:rPr lang="en-US" sz="1000" dirty="0">
                <a:solidFill>
                  <a:srgbClr val="FFFFFF"/>
                </a:solidFill>
                <a:latin typeface="Times New Roman"/>
                <a:cs typeface="Times New Roman"/>
              </a:rPr>
              <a:t>Borrow / Return
Processed &amp; Logged</a:t>
            </a:r>
          </a:p>
        </p:txBody>
      </p:sp>
      <p:sp>
        <p:nvSpPr>
          <p:cNvPr id="216" name="Arrow 216"/>
          <p:cNvSpPr/>
          <p:nvPr/>
        </p:nvSpPr>
        <p:spPr>
          <a:xfrm>
            <a:off x="7076250" y="3450000"/>
            <a:ext cx="510500" cy="300000"/>
          </a:xfrm>
          <a:prstGeom prst="rightArrow">
            <a:avLst/>
          </a:prstGeom>
          <a:solidFill>
            <a:srgbClr val="0070C0"/>
          </a:solidFill>
          <a:ln>
            <a:noFill/>
          </a:ln>
        </p:spPr>
        <p:txBody>
          <a:bodyPr/>
          <a:lstStyle/>
          <a:p>
            <a:endParaRPr lang="en-US"/>
          </a:p>
        </p:txBody>
      </p:sp>
      <p:sp>
        <p:nvSpPr>
          <p:cNvPr id="217" name="Phase 217"/>
          <p:cNvSpPr/>
          <p:nvPr/>
        </p:nvSpPr>
        <p:spPr>
          <a:xfrm>
            <a:off x="7481500" y="3000000"/>
            <a:ext cx="1750000" cy="1200000"/>
          </a:xfrm>
          <a:prstGeom prst="roundRect">
            <a:avLst>
              <a:gd name="adj" fmla="val 8000"/>
            </a:avLst>
          </a:prstGeom>
          <a:solidFill>
            <a:srgbClr val="1F8FE0"/>
          </a:solidFill>
          <a:ln>
            <a:noFill/>
          </a:ln>
        </p:spPr>
        <p:txBody>
          <a:bodyPr wrap="square" lIns="91440" tIns="45720" rIns="91440" bIns="45720" anchor="ctr">
            <a:normAutofit/>
          </a:bodyPr>
          <a:lstStyle/>
          <a:p>
            <a:pPr algn="ctr">
              <a:spcAft>
                <a:spcPts val="200"/>
              </a:spcAft>
            </a:pPr>
            <a:r>
              <a:rPr lang="en-US" sz="1300" b="1" dirty="0">
                <a:solidFill>
                  <a:srgbClr val="FFFFFF"/>
                </a:solidFill>
                <a:latin typeface="Times New Roman"/>
                <a:cs typeface="Times New Roman"/>
              </a:rPr>
              <a:t>Step 4</a:t>
            </a:r>
          </a:p>
          <a:p>
            <a:pPr algn="ctr">
              <a:buNone/>
            </a:pPr>
            <a:r>
              <a:rPr lang="en-US" sz="1000" dirty="0">
                <a:solidFill>
                  <a:srgbClr val="FFFFFF"/>
                </a:solidFill>
                <a:latin typeface="Times New Roman"/>
                <a:cs typeface="Times New Roman"/>
              </a:rPr>
              <a:t>AI Engine Analyses
History &amp; Genre</a:t>
            </a:r>
          </a:p>
        </p:txBody>
      </p:sp>
      <p:sp>
        <p:nvSpPr>
          <p:cNvPr id="218" name="Arrow 218"/>
          <p:cNvSpPr/>
          <p:nvPr/>
        </p:nvSpPr>
        <p:spPr>
          <a:xfrm>
            <a:off x="9336750" y="3450000"/>
            <a:ext cx="510500" cy="300000"/>
          </a:xfrm>
          <a:prstGeom prst="rightArrow">
            <a:avLst/>
          </a:prstGeom>
          <a:solidFill>
            <a:srgbClr val="0070C0"/>
          </a:solidFill>
          <a:ln>
            <a:noFill/>
          </a:ln>
        </p:spPr>
        <p:txBody>
          <a:bodyPr/>
          <a:lstStyle/>
          <a:p>
            <a:endParaRPr lang="en-US"/>
          </a:p>
        </p:txBody>
      </p:sp>
      <p:sp>
        <p:nvSpPr>
          <p:cNvPr id="219" name="Phase 219"/>
          <p:cNvSpPr/>
          <p:nvPr/>
        </p:nvSpPr>
        <p:spPr>
          <a:xfrm>
            <a:off x="9742000" y="3000000"/>
            <a:ext cx="1750000" cy="1200000"/>
          </a:xfrm>
          <a:prstGeom prst="roundRect">
            <a:avLst>
              <a:gd name="adj" fmla="val 8000"/>
            </a:avLst>
          </a:prstGeom>
          <a:solidFill>
            <a:srgbClr val="0070C0"/>
          </a:solidFill>
          <a:ln>
            <a:noFill/>
          </a:ln>
        </p:spPr>
        <p:txBody>
          <a:bodyPr wrap="square" lIns="91440" tIns="45720" rIns="91440" bIns="45720" anchor="ctr">
            <a:normAutofit/>
          </a:bodyPr>
          <a:lstStyle/>
          <a:p>
            <a:pPr algn="ctr">
              <a:spcAft>
                <a:spcPts val="200"/>
              </a:spcAft>
            </a:pPr>
            <a:r>
              <a:rPr lang="en-US" sz="1300" b="1" dirty="0">
                <a:solidFill>
                  <a:srgbClr val="FFFFFF"/>
                </a:solidFill>
                <a:latin typeface="Times New Roman"/>
                <a:cs typeface="Times New Roman"/>
              </a:rPr>
              <a:t>Step 5</a:t>
            </a:r>
          </a:p>
          <a:p>
            <a:pPr algn="ctr">
              <a:buNone/>
            </a:pPr>
            <a:r>
              <a:rPr lang="en-US" sz="1000" dirty="0">
                <a:solidFill>
                  <a:srgbClr val="FFFFFF"/>
                </a:solidFill>
                <a:latin typeface="Times New Roman"/>
                <a:cs typeface="Times New Roman"/>
              </a:rPr>
              <a:t>Personalised
Recommendations Shown</a:t>
            </a:r>
          </a:p>
        </p:txBody>
      </p:sp>
    </p:spTree>
    <p:extLst>
      <p:ext uri="{BB962C8B-B14F-4D97-AF65-F5344CB8AC3E}">
        <p14:creationId xmlns:p14="http://schemas.microsoft.com/office/powerpoint/2010/main" val="4118855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609600" y="600078"/>
            <a:ext cx="10972800" cy="646331"/>
          </a:xfrm>
          <a:prstGeom prst="rect">
            <a:avLst/>
          </a:prstGeom>
          <a:noFill/>
        </p:spPr>
        <p:txBody>
          <a:bodyPr wrap="square">
            <a:spAutoFit/>
          </a:bodyPr>
          <a:lstStyle/>
          <a:p>
            <a:pPr algn="ctr"/>
            <a:r>
              <a:rPr lang="en-US" sz="3600" b="1" dirty="0"/>
              <a:t>Modules</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3"/>
          <a:stretch>
            <a:fillRect/>
          </a:stretch>
        </p:blipFill>
        <p:spPr>
          <a:xfrm>
            <a:off x="10249380" y="0"/>
            <a:ext cx="1942620" cy="622550"/>
          </a:xfrm>
          <a:prstGeom prst="rect">
            <a:avLst/>
          </a:prstGeom>
        </p:spPr>
      </p:pic>
      <p:sp>
        <p:nvSpPr>
          <p:cNvPr id="105" name="Card 105"/>
          <p:cNvSpPr/>
          <p:nvPr/>
        </p:nvSpPr>
        <p:spPr>
          <a:xfrm>
            <a:off x="609600" y="1600000"/>
            <a:ext cx="5336400" cy="4400000"/>
          </a:xfrm>
          <a:prstGeom prst="roundRect">
            <a:avLst>
              <a:gd name="adj" fmla="val 4000"/>
            </a:avLst>
          </a:prstGeom>
          <a:solidFill>
            <a:srgbClr val="F2F7FC"/>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Core Management Modules</a:t>
            </a:r>
          </a:p>
          <a:p>
            <a:pPr marL="228600" indent="-228600">
              <a:spcAft>
                <a:spcPts val="600"/>
              </a:spcAft>
              <a:buFont typeface="Arial"/>
              <a:buChar char="•"/>
            </a:pPr>
            <a:r>
              <a:rPr lang="en-US" sz="1600" b="0" dirty="0">
                <a:solidFill>
                  <a:srgbClr val="404040"/>
                </a:solidFill>
                <a:latin typeface="Times New Roman"/>
                <a:cs typeface="Times New Roman"/>
              </a:rPr>
              <a:t>Book Management: add, update, and search book records and availability</a:t>
            </a:r>
          </a:p>
          <a:p>
            <a:pPr marL="228600" indent="-228600">
              <a:spcAft>
                <a:spcPts val="600"/>
              </a:spcAft>
              <a:buFont typeface="Arial"/>
              <a:buChar char="•"/>
            </a:pPr>
            <a:r>
              <a:rPr lang="en-US" sz="1600" b="0" dirty="0">
                <a:solidFill>
                  <a:srgbClr val="404040"/>
                </a:solidFill>
                <a:latin typeface="Times New Roman"/>
                <a:cs typeface="Times New Roman"/>
              </a:rPr>
              <a:t>User Management: student and librarian accounts, roles, and profiles</a:t>
            </a:r>
          </a:p>
          <a:p>
            <a:pPr marL="228600" indent="-228600">
              <a:spcAft>
                <a:spcPts val="600"/>
              </a:spcAft>
              <a:buFont typeface="Arial"/>
              <a:buChar char="•"/>
            </a:pPr>
            <a:r>
              <a:rPr lang="en-US" sz="1600" b="0" dirty="0">
                <a:solidFill>
                  <a:srgbClr val="404040"/>
                </a:solidFill>
                <a:latin typeface="Times New Roman"/>
                <a:cs typeface="Times New Roman"/>
              </a:rPr>
              <a:t>Transaction Module: borrowing, returns, and due-date tracking</a:t>
            </a:r>
          </a:p>
          <a:p>
            <a:pPr marL="228600" indent="-228600">
              <a:spcAft>
                <a:spcPts val="600"/>
              </a:spcAft>
              <a:buFont typeface="Arial"/>
              <a:buChar char="•"/>
            </a:pPr>
            <a:r>
              <a:rPr lang="en-US" sz="1600" b="0" dirty="0">
                <a:solidFill>
                  <a:srgbClr val="404040"/>
                </a:solidFill>
                <a:latin typeface="Times New Roman"/>
                <a:cs typeface="Times New Roman"/>
              </a:rPr>
              <a:t>Notification Module: automated due-date and return alerts</a:t>
            </a:r>
          </a:p>
        </p:txBody>
      </p:sp>
      <p:sp>
        <p:nvSpPr>
          <p:cNvPr id="106" name="Card 106"/>
          <p:cNvSpPr/>
          <p:nvPr/>
        </p:nvSpPr>
        <p:spPr>
          <a:xfrm>
            <a:off x="6246000" y="1600000"/>
            <a:ext cx="5336400" cy="4400000"/>
          </a:xfrm>
          <a:prstGeom prst="roundRect">
            <a:avLst>
              <a:gd name="adj" fmla="val 4000"/>
            </a:avLst>
          </a:prstGeom>
          <a:solidFill>
            <a:srgbClr val="EAF3FF"/>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Intelligent Modules</a:t>
            </a:r>
          </a:p>
          <a:p>
            <a:pPr marL="228600" indent="-228600">
              <a:spcAft>
                <a:spcPts val="600"/>
              </a:spcAft>
              <a:buFont typeface="Arial"/>
              <a:buChar char="•"/>
            </a:pPr>
            <a:r>
              <a:rPr lang="en-US" sz="1600" b="0" dirty="0">
                <a:solidFill>
                  <a:srgbClr val="404040"/>
                </a:solidFill>
                <a:latin typeface="Times New Roman"/>
                <a:cs typeface="Times New Roman"/>
              </a:rPr>
              <a:t>Search &amp; Discovery Module: real-time search with availability status</a:t>
            </a:r>
          </a:p>
          <a:p>
            <a:pPr marL="228600" indent="-228600">
              <a:spcAft>
                <a:spcPts val="600"/>
              </a:spcAft>
              <a:buFont typeface="Arial"/>
              <a:buChar char="•"/>
            </a:pPr>
            <a:r>
              <a:rPr lang="en-US" sz="1600" b="0" dirty="0">
                <a:solidFill>
                  <a:srgbClr val="404040"/>
                </a:solidFill>
                <a:latin typeface="Times New Roman"/>
                <a:cs typeface="Times New Roman"/>
              </a:rPr>
              <a:t>AI Recommendation Engine: suggests books from borrowing history and genre preferences</a:t>
            </a:r>
          </a:p>
          <a:p>
            <a:pPr marL="228600" indent="-228600">
              <a:spcAft>
                <a:spcPts val="600"/>
              </a:spcAft>
              <a:buFont typeface="Arial"/>
              <a:buChar char="•"/>
            </a:pPr>
            <a:r>
              <a:rPr lang="en-US" sz="1600" b="0" dirty="0">
                <a:solidFill>
                  <a:srgbClr val="404040"/>
                </a:solidFill>
                <a:latin typeface="Times New Roman"/>
                <a:cs typeface="Times New Roman"/>
              </a:rPr>
              <a:t>Admin Analytics Module: demand trends and acquisition insights for librarians</a:t>
            </a:r>
          </a:p>
          <a:p>
            <a:pPr marL="228600" indent="-228600">
              <a:spcAft>
                <a:spcPts val="600"/>
              </a:spcAft>
              <a:buFont typeface="Arial"/>
              <a:buChar char="•"/>
            </a:pPr>
            <a:r>
              <a:rPr lang="en-US" sz="1600" b="0" dirty="0">
                <a:solidFill>
                  <a:srgbClr val="404040"/>
                </a:solidFill>
                <a:latin typeface="Times New Roman"/>
                <a:cs typeface="Times New Roman"/>
              </a:rPr>
              <a:t>Authentication Module: secure login for students and librarians</a:t>
            </a:r>
          </a:p>
        </p:txBody>
      </p:sp>
    </p:spTree>
    <p:extLst>
      <p:ext uri="{BB962C8B-B14F-4D97-AF65-F5344CB8AC3E}">
        <p14:creationId xmlns:p14="http://schemas.microsoft.com/office/powerpoint/2010/main" val="2065876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609600" y="600078"/>
            <a:ext cx="10972800" cy="646331"/>
          </a:xfrm>
          <a:prstGeom prst="rect">
            <a:avLst/>
          </a:prstGeom>
          <a:noFill/>
        </p:spPr>
        <p:txBody>
          <a:bodyPr wrap="square">
            <a:spAutoFit/>
          </a:bodyPr>
          <a:lstStyle/>
          <a:p>
            <a:pPr algn="ctr"/>
            <a:r>
              <a:rPr lang="en-US" sz="3600" b="1" dirty="0"/>
              <a:t>Conclusion &amp; Future Scope</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3"/>
          <a:stretch>
            <a:fillRect/>
          </a:stretch>
        </p:blipFill>
        <p:spPr>
          <a:xfrm>
            <a:off x="10249380" y="0"/>
            <a:ext cx="1942620" cy="622550"/>
          </a:xfrm>
          <a:prstGeom prst="rect">
            <a:avLst/>
          </a:prstGeom>
        </p:spPr>
      </p:pic>
      <p:sp>
        <p:nvSpPr>
          <p:cNvPr id="105" name="Card 105"/>
          <p:cNvSpPr/>
          <p:nvPr/>
        </p:nvSpPr>
        <p:spPr>
          <a:xfrm>
            <a:off x="609600" y="1600000"/>
            <a:ext cx="5336400" cy="4400000"/>
          </a:xfrm>
          <a:prstGeom prst="roundRect">
            <a:avLst>
              <a:gd name="adj" fmla="val 4000"/>
            </a:avLst>
          </a:prstGeom>
          <a:solidFill>
            <a:srgbClr val="F2F7FC"/>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Current Status</a:t>
            </a:r>
          </a:p>
          <a:p>
            <a:pPr>
              <a:spcAft>
                <a:spcPts val="800"/>
              </a:spcAft>
            </a:pPr>
            <a:endParaRPr lang="en-US" sz="1800" b="1" dirty="0">
              <a:solidFill>
                <a:srgbClr val="0070C0"/>
              </a:solidFill>
              <a:latin typeface="Times New Roman"/>
              <a:cs typeface="Times New Roman"/>
            </a:endParaRPr>
          </a:p>
          <a:p>
            <a:pPr marL="228600" indent="-228600">
              <a:spcAft>
                <a:spcPts val="600"/>
              </a:spcAft>
              <a:buFont typeface="Arial"/>
              <a:buChar char="•"/>
            </a:pPr>
            <a:r>
              <a:rPr lang="en-US" sz="1600" dirty="0">
                <a:latin typeface="Times New Roman" panose="02020603050405020304" pitchFamily="18" charset="0"/>
                <a:cs typeface="Times New Roman" panose="02020603050405020304" pitchFamily="18" charset="0"/>
              </a:rPr>
              <a:t>The AI-powered library management system provides a single platform to manage books, student details, borrowing, returns, and due dates, making library activities easier and more organized.</a:t>
            </a:r>
          </a:p>
          <a:p>
            <a:pPr marL="228600" indent="-228600">
              <a:spcAft>
                <a:spcPts val="600"/>
              </a:spcAft>
              <a:buFont typeface="Arial"/>
              <a:buChar char="•"/>
            </a:pPr>
            <a:r>
              <a:rPr lang="en-US" sz="1600" dirty="0">
                <a:latin typeface="Times New Roman" panose="02020603050405020304" pitchFamily="18" charset="0"/>
                <a:cs typeface="Times New Roman" panose="02020603050405020304" pitchFamily="18" charset="0"/>
              </a:rPr>
              <a:t>The system makes book searching and availability checking easier for students</a:t>
            </a:r>
            <a:r>
              <a:rPr lang="en-US" sz="1600" dirty="0"/>
              <a:t>, </a:t>
            </a:r>
            <a:r>
              <a:rPr lang="en-US" sz="1600" dirty="0">
                <a:latin typeface="Times New Roman" panose="02020603050405020304" pitchFamily="18" charset="0"/>
                <a:cs typeface="Times New Roman" panose="02020603050405020304" pitchFamily="18" charset="0"/>
              </a:rPr>
              <a:t>while reducing the amount of manual work required by librarians.</a:t>
            </a:r>
          </a:p>
          <a:p>
            <a:pPr marL="228600" indent="-228600">
              <a:spcAft>
                <a:spcPts val="600"/>
              </a:spcAft>
              <a:buFont typeface="Arial"/>
              <a:buChar char="•"/>
            </a:pPr>
            <a:r>
              <a:rPr lang="en-US" sz="1600" dirty="0">
                <a:latin typeface="Times New Roman" panose="02020603050405020304" pitchFamily="18" charset="0"/>
                <a:cs typeface="Times New Roman" panose="02020603050405020304" pitchFamily="18" charset="0"/>
              </a:rPr>
              <a:t>The system improves the overall library experience by combining regular library management features with smart book recommendations in one platform.</a:t>
            </a:r>
            <a:endParaRPr lang="en-US" sz="1600" b="0" dirty="0">
              <a:solidFill>
                <a:srgbClr val="404040"/>
              </a:solidFill>
              <a:latin typeface="Times New Roman" panose="02020603050405020304" pitchFamily="18" charset="0"/>
              <a:cs typeface="Times New Roman" panose="02020603050405020304" pitchFamily="18" charset="0"/>
            </a:endParaRPr>
          </a:p>
        </p:txBody>
      </p:sp>
      <p:sp>
        <p:nvSpPr>
          <p:cNvPr id="106" name="Card 106"/>
          <p:cNvSpPr/>
          <p:nvPr/>
        </p:nvSpPr>
        <p:spPr>
          <a:xfrm>
            <a:off x="6246000" y="1600000"/>
            <a:ext cx="5336400" cy="4400000"/>
          </a:xfrm>
          <a:prstGeom prst="roundRect">
            <a:avLst>
              <a:gd name="adj" fmla="val 4000"/>
            </a:avLst>
          </a:prstGeom>
          <a:solidFill>
            <a:srgbClr val="EAF3FF"/>
          </a:solidFill>
          <a:ln>
            <a:noFill/>
          </a:ln>
          <a:effectLst>
            <a:outerShdw blurRad="90000" dist="30000" dir="5400000" rotWithShape="0">
              <a:srgbClr val="000000">
                <a:alpha val="12000"/>
              </a:srgbClr>
            </a:outerShdw>
          </a:effectLst>
        </p:spPr>
        <p:txBody>
          <a:bodyPr wrap="square" lIns="274320" tIns="228600" rIns="274320" bIns="228600" anchor="t">
            <a:normAutofit/>
          </a:bodyPr>
          <a:lstStyle/>
          <a:p>
            <a:pPr>
              <a:spcAft>
                <a:spcPts val="800"/>
              </a:spcAft>
            </a:pPr>
            <a:r>
              <a:rPr lang="en-US" sz="1800" b="1" dirty="0">
                <a:solidFill>
                  <a:srgbClr val="0070C0"/>
                </a:solidFill>
                <a:latin typeface="Times New Roman"/>
                <a:cs typeface="Times New Roman"/>
              </a:rPr>
              <a:t>Future Scope</a:t>
            </a:r>
          </a:p>
          <a:p>
            <a:pPr>
              <a:spcAft>
                <a:spcPts val="800"/>
              </a:spcAft>
            </a:pPr>
            <a:endParaRPr lang="en-US" sz="1800" b="1" dirty="0">
              <a:solidFill>
                <a:srgbClr val="0070C0"/>
              </a:solidFill>
              <a:latin typeface="Times New Roman"/>
              <a:cs typeface="Times New Roman"/>
            </a:endParaRPr>
          </a:p>
          <a:p>
            <a:pPr marL="228600" indent="-228600">
              <a:spcAft>
                <a:spcPts val="600"/>
              </a:spcAft>
              <a:buFont typeface="Arial"/>
              <a:buChar char="•"/>
            </a:pPr>
            <a:r>
              <a:rPr lang="en-US" sz="1600" dirty="0">
                <a:latin typeface="Times New Roman" panose="02020603050405020304" pitchFamily="18" charset="0"/>
                <a:cs typeface="Times New Roman" panose="02020603050405020304" pitchFamily="18" charset="0"/>
              </a:rPr>
              <a:t>A mobile application can be developed in the future so that students can search for books, check availability, and access library services easily from their phones.</a:t>
            </a:r>
          </a:p>
          <a:p>
            <a:pPr marL="228600" indent="-228600">
              <a:spcAft>
                <a:spcPts val="600"/>
              </a:spcAft>
              <a:buFont typeface="Arial"/>
              <a:buChar char="•"/>
            </a:pPr>
            <a:r>
              <a:rPr lang="en-US" sz="1600" dirty="0">
                <a:latin typeface="Times New Roman" panose="02020603050405020304" pitchFamily="18" charset="0"/>
                <a:cs typeface="Times New Roman" panose="02020603050405020304" pitchFamily="18" charset="0"/>
              </a:rPr>
              <a:t>The system can analyze borrowing patterns and popular books to help librarians understand student demand and make better decisions when purchasing new books</a:t>
            </a:r>
            <a:r>
              <a:rPr lang="en-US" sz="1600" dirty="0"/>
              <a:t>.</a:t>
            </a:r>
          </a:p>
          <a:p>
            <a:pPr marL="228600" indent="-228600">
              <a:spcAft>
                <a:spcPts val="600"/>
              </a:spcAft>
              <a:buFont typeface="Arial"/>
              <a:buChar char="•"/>
            </a:pPr>
            <a:r>
              <a:rPr lang="en-US" sz="1600" dirty="0">
                <a:latin typeface="Times New Roman" panose="02020603050405020304" pitchFamily="18" charset="0"/>
                <a:cs typeface="Times New Roman" panose="02020603050405020304" pitchFamily="18" charset="0"/>
              </a:rPr>
              <a:t>Voice-based search can be added to the system to allow students to find books quickly by speaking instead of typing.</a:t>
            </a:r>
            <a:endParaRPr lang="en-US" sz="1600" dirty="0">
              <a:solidFill>
                <a:srgbClr val="40404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876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TotalTime>
  <Words>2340</Words>
  <Application>Microsoft Office PowerPoint</Application>
  <PresentationFormat>Widescreen</PresentationFormat>
  <Paragraphs>283</Paragraphs>
  <Slides>11</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Aptos</vt:lpstr>
      <vt:lpstr>Aptos Display</vt:lpstr>
      <vt:lpstr>Arial</vt:lpstr>
      <vt:lpstr>Calibri</vt:lpstr>
      <vt:lpstr>Calibri Light</vt:lpstr>
      <vt:lpstr>Cambria</vt:lpstr>
      <vt:lpstr>Poppins</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saikumar kompally</cp:lastModifiedBy>
  <cp:revision>45</cp:revision>
  <dcterms:created xsi:type="dcterms:W3CDTF">2026-08-08T06:33:56Z</dcterms:created>
  <dcterms:modified xsi:type="dcterms:W3CDTF">2026-09-11T13:46:10Z</dcterms:modified>
</cp:coreProperties>
</file>